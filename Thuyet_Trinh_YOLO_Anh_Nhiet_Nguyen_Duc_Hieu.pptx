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Thầy/Cô Vũ Thanh Hiền và toàn thể Hội đồng. Em tên là Nguyễn Đức Hiếu, sinh viên chuyên ngành Trí tuệ Nhân tạo, MSSV 24800600314. Hôm nay em xin phép báo cáo đồ án môn học: 'Phát hiện người trong ảnh nhiệt bằng mô hình YOLO'.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Camera RGB thông thường gặp giới hạn rất lớn khi thiếu sáng hoặc có sương mù. Camera nhiệt hồng ngoại LWIR lại vượt trội nhờ bắt trực tiếp nhiệt lượng cơ thể người ở 37°C mà không phụ thuộc vào bất kỳ nguồn sáng nào.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tập trung vào 5 nhiệm vụ khép kín: Chuẩn hóa dữ liệu, huấn luyện mô hình YOLOv8n, đánh giá chỉ số mAP, kiểm thử kháng nhiễu và xây dựng ứng dụng Web Studio chuyên nghiệp.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định luật Wien, cơ thể người ở nhiệt độ 37 độ C phát xạ mạnh nhất ở bước sóng 9.5 micro-met, rơi vào dải sóng dài LWIR. Hình bên phải minh họa các bảng màu giả lập nhiệt như Inferno, Ironbow và Jet.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đã nghiên cứu sâu 2 bài báo quốc tế: Bài báo MDPI Sensors 2022 chứng minh họ YOLO là giải pháp tối ưu cho ảnh nhiệt; bài báo ACM 2019 nhấn mạnh vai trò của gradient nhiệt viền biên. Đề tài nâng cấp lên YOLOv8 mới nhất.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YOLOv8 sở hữu 3 cải tiến lớn: Module C2f truyền gradient sâu, Decoupled Head tách biệt phân loại và định vị, và cơ chế Anchor-Free giúp nhận diện linh hoạt. Phiên bản Nano chỉ 6.2 MB cho phép chạy mượt trên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sử dụng 2 bộ dữ liệu chuẩn mực: FLIR ADAS v2 gồm hơn 23.000 ảnh góc nhìn ô tô đường phố, và LLVIP gồm hơn 15.000 ảnh độ nét cao 1280x1024 chuyên biệt về người đi bộ đêm.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đã xây dựng mã nguồn tự động chuẩn hóa tọa độ pixel tuyệt đối từ COCO JSON và Pascal VOC XML sang dạng tâm tương đối [0, 1] của YOLO, đồng thời áp dụng Mosaic augmentation để mô hình học tốt người ở xa lẫn gần.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Trên slide là sơ đồ kiến trúc tổng thể toàn bộ hệ thống gồm 4 giai đoạn khép kín: Thu thập dữ liệu, tiền xử lý tăng cường, huấn luyện YOLOv8n và đánh giá suy luận thời gian thực trên Web Studio.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Quá trình huấn luyện sử dụng kích thước ảnh 416x416, 50 epoch với thuật toán tối ưu Cosine Learning Rate và hàm mất mát CIoU + DFL giúp khung bao bám sát chính xác từng đường viền thân nhiệt.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thị huấn luyện cho thấy Box Loss và Class Loss giảm sâu ngay từ những epoch đầu tiên. Chỉ số mAP@50 tăng trưởng vượt bậc từ 41% lên hơn 67%, chứng minh mô hình học tập ổn định không bị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nghiệm thu chính thức sau 50 epoch: Trên bộ FLIR đạt mAP@50 67.07% và Precision 78.49%. Trên bộ LLVIP đạt mAP@50 tới 88.52% và Precision 90.24%. Tất cả các chỉ số đều vượt chỉ tiêu đề 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Ngay trên CPU thông thường ở độ phân giải 416x416, mô hình đạt tốc độ 35.1 khung hình/giây – vượt qua mốc chuẩn 30 FPS thời gian thực. Còn trên GPU CUDA, tốc độ lên tới trên 160 FPS.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đã kiểm thử khả năng kháng nhiễu trước 4 kịch bản khắc nghiệt: Nhiễu hạt Gaussian, mờ chuyển động, tương phản thấp và điểm ảnh chết. Trong mọi điều kiện, mô hình đều duy trì trên 90% hiệu năng ban đầu.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demo được thiết kế lại chuyên biệt cho ảnh nhiệt: Tải ảnh lên là tự động nhận diện tức thì, tự phát hiện ảnh nhiệt màu để chuyển sang xám đưa vào YOLO rồi trả kết quả màu trực quan.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có ưu điểm vượt trội về khả năng làm việc trong bóng tối 0 Lux, tốc độ nhanh và tính cơ động. Hạn chế là dễ bỏ sót người ở khoảng cách quá xa khi nguồn nhiệt chỉ chiếm vài pixel mờ nhạt.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 đã hoàn thành xuất sắc các mục tiêu đề ra. Hướng mở rộng giá trị nhất tiếp theo là kết hợp đa phương thức Multimodal Fusion giữa camera màu ban ngày và camera nhiệt ban đêm.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báo cáo đồ án của em đến đây là kết thúc. Em xin gửi lời cảm ơn chân thành nhất đến Thầy/Cô Vũ Thanh Hiền đã tận tình hướng dẫn em. Em xin kính mời Thầy/Cô đưa ra các câu hỏi nhận xét.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utech_logo.png"/>
          <p:cNvPicPr>
            <a:picLocks noChangeAspect="1"/>
          </p:cNvPicPr>
          <p:nvPr/>
        </p:nvPicPr>
        <p:blipFill>
          <a:blip r:embed="rId2"/>
          <a:stretch>
            <a:fillRect/>
          </a:stretch>
        </p:blipFill>
        <p:spPr>
          <a:xfrm>
            <a:off x="731520" y="548640"/>
            <a:ext cx="3372787" cy="822960"/>
          </a:xfrm>
          <a:prstGeom prst="rect">
            <a:avLst/>
          </a:prstGeom>
        </p:spPr>
      </p:pic>
      <p:pic>
        <p:nvPicPr>
          <p:cNvPr id="4" name="Picture 3" descr="thermal_person_icon.png"/>
          <p:cNvPicPr>
            <a:picLocks noChangeAspect="1"/>
          </p:cNvPicPr>
          <p:nvPr/>
        </p:nvPicPr>
        <p:blipFill>
          <a:blip r:embed="rId3"/>
          <a:stretch>
            <a:fillRect/>
          </a:stretch>
        </p:blipFill>
        <p:spPr>
          <a:xfrm>
            <a:off x="9875520" y="548640"/>
            <a:ext cx="1371600" cy="1371600"/>
          </a:xfrm>
          <a:prstGeom prst="rect">
            <a:avLst/>
          </a:prstGeom>
        </p:spPr>
      </p:pic>
      <p:sp>
        <p:nvSpPr>
          <p:cNvPr id="5" name="Rounded Rectangle 4"/>
          <p:cNvSpPr/>
          <p:nvPr/>
        </p:nvSpPr>
        <p:spPr>
          <a:xfrm>
            <a:off x="731520" y="1645920"/>
            <a:ext cx="10698480" cy="4389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9966960" cy="3840480"/>
          </a:xfrm>
          <a:prstGeom prst="rect">
            <a:avLst/>
          </a:prstGeom>
          <a:noFill/>
        </p:spPr>
        <p:txBody>
          <a:bodyPr wrap="square">
            <a:spAutoFit/>
          </a:bodyPr>
          <a:lstStyle/>
          <a:p>
            <a:pPr algn="ctr">
              <a:defRPr sz="1300" b="1">
                <a:solidFill>
                  <a:srgbClr val="06B6D4"/>
                </a:solidFill>
              </a:defRPr>
            </a:pPr>
            <a:r>
              <a:t>TRƯỜNG ĐẠI HỌC CÔNG NGHỆ TP. HỒ CHÍ MINH (HUTECH)</a:t>
            </a:r>
            <a:br/>
            <a:r>
              <a:t>KHOA CÔNG NGHỆ THÔNG TIN · BỘ MÔN TRÍ TUỆ NHÂN TẠO</a:t>
            </a:r>
          </a:p>
          <a:p>
            <a:pPr algn="ctr">
              <a:spcBef>
                <a:spcPts val="1400"/>
              </a:spcBef>
              <a:defRPr sz="1400" b="1">
                <a:solidFill>
                  <a:srgbClr val="FBBF24"/>
                </a:solidFill>
              </a:defRPr>
            </a:pPr>
            <a:r>
              <a:t>BÁO CÁO ĐỒ ÁN MÔN HỌC</a:t>
            </a:r>
          </a:p>
          <a:p>
            <a:pPr algn="ctr">
              <a:spcBef>
                <a:spcPts val="1000"/>
              </a:spcBef>
              <a:defRPr sz="2800" b="1">
                <a:solidFill>
                  <a:srgbClr val="F97316"/>
                </a:solidFill>
              </a:defRPr>
            </a:pPr>
            <a:r>
              <a:t>PHÁT HIỆN NGƯỜI TRONG ẢNH NHIỆT</a:t>
            </a:r>
            <a:br/>
            <a:r>
              <a:t>BẰNG MÔ HÌNH YOLO</a:t>
            </a:r>
          </a:p>
          <a:p>
            <a:pPr algn="ctr">
              <a:spcBef>
                <a:spcPts val="800"/>
              </a:spcBef>
              <a:defRPr sz="1200">
                <a:solidFill>
                  <a:srgbClr val="CBD5E1"/>
                </a:solidFill>
              </a:defRPr>
            </a:pPr>
            <a:r>
              <a:t>Học máy thị giác máy tính · Phát hiện người toả nhiệt hồng ngoại LWIR · FLIR &amp; LLVIP</a:t>
            </a:r>
          </a:p>
          <a:p>
            <a:pPr algn="ctr">
              <a:spcBef>
                <a:spcPts val="1800"/>
              </a:spcBef>
              <a:defRPr sz="1300" b="1">
                <a:solidFill>
                  <a:srgbClr val="F8FAFC"/>
                </a:solidFill>
              </a:defRPr>
            </a:pPr>
            <a:r>
              <a:t>Sinh viên thực hiện: NGUYỄN ĐỨC HIẾU  |  MSSV: 24800600314</a:t>
            </a:r>
            <a:br/>
            <a:r>
              <a:t>Giảng viên hướng dẫn: ThS./TS. VŨ THANH HIỀN</a:t>
            </a:r>
          </a:p>
        </p:txBody>
      </p:sp>
      <p:sp>
        <p:nvSpPr>
          <p:cNvPr id="7" name="TextBox 6"/>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02</a:t>
            </a:r>
          </a:p>
          <a:p>
            <a:pPr>
              <a:spcBef>
                <a:spcPts val="400"/>
              </a:spcBef>
              <a:defRPr sz="2100" b="1">
                <a:solidFill>
                  <a:srgbClr val="F8FAFC"/>
                </a:solidFill>
              </a:defRPr>
            </a:pPr>
            <a:r>
              <a:t>TÍNH CẤP THIẾT &amp; ĐẶT VẤN ĐỀ NGHIÊN CỨU</a:t>
            </a:r>
          </a:p>
        </p:txBody>
      </p:sp>
      <p:sp>
        <p:nvSpPr>
          <p:cNvPr id="4" name="Rounded Rectangle 3"/>
          <p:cNvSpPr/>
          <p:nvPr/>
        </p:nvSpPr>
        <p:spPr>
          <a:xfrm>
            <a:off x="7315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480560"/>
          </a:xfrm>
          <a:prstGeom prst="rect">
            <a:avLst/>
          </a:prstGeom>
          <a:noFill/>
        </p:spPr>
        <p:txBody>
          <a:bodyPr wrap="square">
            <a:spAutoFit/>
          </a:bodyPr>
          <a:lstStyle/>
          <a:p>
            <a:pPr>
              <a:defRPr sz="1400" b="1">
                <a:solidFill>
                  <a:srgbClr val="EF4444"/>
                </a:solidFill>
              </a:defRPr>
            </a:pPr>
            <a:r>
              <a:t>❌ GIỚI HẠN CỦA CAMERA QUANG HỌC (RGB)</a:t>
            </a:r>
          </a:p>
          <a:p>
            <a:pPr>
              <a:spcBef>
                <a:spcPts val="800"/>
              </a:spcBef>
              <a:defRPr sz="1150">
                <a:solidFill>
                  <a:srgbClr val="CBD5E1"/>
                </a:solidFill>
              </a:defRPr>
            </a:pPr>
            <a:r>
              <a:t>• Hoàn toàn bất lực trong bóng tối (0 Lux) nếu không có đèn chiếu sáng hỗ trợ.</a:t>
            </a:r>
          </a:p>
          <a:p>
            <a:pPr>
              <a:spcBef>
                <a:spcPts val="800"/>
              </a:spcBef>
              <a:defRPr sz="1150">
                <a:solidFill>
                  <a:srgbClr val="CBD5E1"/>
                </a:solidFill>
              </a:defRPr>
            </a:pPr>
            <a:r>
              <a:t>• Dễ bị vô hiệu hóa bởi sương mù dày, khói bụi, mưa dông lớn hoặc chói đèn pha xe đối diện.</a:t>
            </a:r>
          </a:p>
          <a:p>
            <a:pPr>
              <a:spcBef>
                <a:spcPts val="800"/>
              </a:spcBef>
              <a:defRPr sz="1150">
                <a:solidFill>
                  <a:srgbClr val="CBD5E1"/>
                </a:solidFill>
              </a:defRPr>
            </a:pPr>
            <a:r>
              <a:t>• Dễ bị đánh lừa bởi bóng đổ (shadows) và ngụy trang quần áo cùng màu với hậu cảnh.</a:t>
            </a:r>
          </a:p>
          <a:p>
            <a:pPr>
              <a:spcBef>
                <a:spcPts val="800"/>
              </a:spcBef>
              <a:defRPr sz="1150">
                <a:solidFill>
                  <a:srgbClr val="CBD5E1"/>
                </a:solidFill>
              </a:defRPr>
            </a:pPr>
            <a:r>
              <a:t>• Thống kê giao thông: Hơn 75% tai nạn va chạm người đi bộ xảy ra vào ban đêm/thiếu sáng.</a:t>
            </a:r>
          </a:p>
        </p:txBody>
      </p:sp>
      <p:sp>
        <p:nvSpPr>
          <p:cNvPr id="6" name="Rounded Rectangle 5"/>
          <p:cNvSpPr/>
          <p:nvPr/>
        </p:nvSpPr>
        <p:spPr>
          <a:xfrm>
            <a:off x="62179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480560"/>
          </a:xfrm>
          <a:prstGeom prst="rect">
            <a:avLst/>
          </a:prstGeom>
          <a:noFill/>
        </p:spPr>
        <p:txBody>
          <a:bodyPr wrap="square">
            <a:spAutoFit/>
          </a:bodyPr>
          <a:lstStyle/>
          <a:p>
            <a:pPr>
              <a:defRPr sz="1400" b="1">
                <a:solidFill>
                  <a:srgbClr val="F97316"/>
                </a:solidFill>
              </a:defRPr>
            </a:pPr>
            <a:r>
              <a:t>🔥 ƯU THẾ VƯỢT TRỘI CỦA ẢNH NHIỆT (LWIR)</a:t>
            </a:r>
          </a:p>
          <a:p>
            <a:pPr>
              <a:spcBef>
                <a:spcPts val="800"/>
              </a:spcBef>
              <a:defRPr sz="1150">
                <a:solidFill>
                  <a:srgbClr val="CBD5E1"/>
                </a:solidFill>
              </a:defRPr>
            </a:pPr>
            <a:r>
              <a:t>• Ghi nhận trực tiếp bức xạ nhiệt cơ thể người (37°C), hoạt động 100% độc lập với ánh sáng.</a:t>
            </a:r>
          </a:p>
          <a:p>
            <a:pPr>
              <a:spcBef>
                <a:spcPts val="800"/>
              </a:spcBef>
              <a:defRPr sz="1150">
                <a:solidFill>
                  <a:srgbClr val="CBD5E1"/>
                </a:solidFill>
              </a:defRPr>
            </a:pPr>
            <a:r>
              <a:t>• Khả năng 'nhìn xuyên' màn đêm 0 Lux, khói mù, tán cây thưa và bụi bặm.</a:t>
            </a:r>
          </a:p>
          <a:p>
            <a:pPr>
              <a:spcBef>
                <a:spcPts val="800"/>
              </a:spcBef>
              <a:defRPr sz="1150">
                <a:solidFill>
                  <a:srgbClr val="CBD5E1"/>
                </a:solidFill>
              </a:defRPr>
            </a:pPr>
            <a:r>
              <a:t>• Người đi bộ luôn hiện lên như một nguồn phát sáng nhiệt tương phản cao so với mặt đường.</a:t>
            </a:r>
          </a:p>
          <a:p>
            <a:pPr>
              <a:spcBef>
                <a:spcPts val="800"/>
              </a:spcBef>
              <a:defRPr sz="1150">
                <a:solidFill>
                  <a:srgbClr val="CBD5E1"/>
                </a:solidFill>
              </a:defRPr>
            </a:pPr>
            <a:r>
              <a:t>• Giải pháp sống còn cho camera giám sát biên giới, xe tự hành ADAS và cứu nạn khẩn cấp.</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03</a:t>
            </a:r>
          </a:p>
          <a:p>
            <a:pPr>
              <a:spcBef>
                <a:spcPts val="400"/>
              </a:spcBef>
              <a:defRPr sz="2100" b="1">
                <a:solidFill>
                  <a:srgbClr val="F8FAFC"/>
                </a:solidFill>
              </a:defRPr>
            </a:pPr>
            <a:r>
              <a:t>MỤC TIÊU &amp; 5 NHIỆM VỤ TRỌNG TÂM</a:t>
            </a:r>
          </a:p>
        </p:txBody>
      </p:sp>
      <p:sp>
        <p:nvSpPr>
          <p:cNvPr id="4" name="Rounded Rectangle 3"/>
          <p:cNvSpPr/>
          <p:nvPr/>
        </p:nvSpPr>
        <p:spPr>
          <a:xfrm>
            <a:off x="731520" y="1280160"/>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53312"/>
            <a:ext cx="10332720" cy="731520"/>
          </a:xfrm>
          <a:prstGeom prst="rect">
            <a:avLst/>
          </a:prstGeom>
          <a:noFill/>
        </p:spPr>
        <p:txBody>
          <a:bodyPr wrap="square">
            <a:spAutoFit/>
          </a:bodyPr>
          <a:lstStyle/>
          <a:p>
            <a:pPr>
              <a:defRPr sz="1300" b="1">
                <a:solidFill>
                  <a:srgbClr val="06B6D4"/>
                </a:solidFill>
              </a:defRPr>
            </a:pPr>
            <a:r>
              <a:t>1. CHUẨN HÓA DỮ LIỆU</a:t>
            </a:r>
          </a:p>
          <a:p>
            <a:pPr>
              <a:defRPr sz="1100">
                <a:solidFill>
                  <a:srgbClr val="CBD5E1"/>
                </a:solidFill>
              </a:defRPr>
            </a:pPr>
            <a:r>
              <a:t>Bóc tách lớp người từ FLIR ADAS v2 &amp; LLVIP (&gt;39.000 ảnh), chuẩn hóa nhãn COCO/VOC sang YOLO format.</a:t>
            </a:r>
          </a:p>
        </p:txBody>
      </p:sp>
      <p:sp>
        <p:nvSpPr>
          <p:cNvPr id="6" name="Rounded Rectangle 5"/>
          <p:cNvSpPr/>
          <p:nvPr/>
        </p:nvSpPr>
        <p:spPr>
          <a:xfrm>
            <a:off x="731520" y="2267712"/>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40864"/>
            <a:ext cx="10332720" cy="731520"/>
          </a:xfrm>
          <a:prstGeom prst="rect">
            <a:avLst/>
          </a:prstGeom>
          <a:noFill/>
        </p:spPr>
        <p:txBody>
          <a:bodyPr wrap="square">
            <a:spAutoFit/>
          </a:bodyPr>
          <a:lstStyle/>
          <a:p>
            <a:pPr>
              <a:defRPr sz="1300" b="1">
                <a:solidFill>
                  <a:srgbClr val="F97316"/>
                </a:solidFill>
              </a:defRPr>
            </a:pPr>
            <a:r>
              <a:t>2. HUẤN LUYỆN YOLOV8n</a:t>
            </a:r>
          </a:p>
          <a:p>
            <a:pPr>
              <a:defRPr sz="1100">
                <a:solidFill>
                  <a:srgbClr val="CBD5E1"/>
                </a:solidFill>
              </a:defRPr>
            </a:pPr>
            <a:r>
              <a:t>Fine-tune mạng YOLOv8n trên ảnh nhiệt với hàm mất mát CIoU + DFL, tối ưu hóa kích thước 416x416.</a:t>
            </a:r>
          </a:p>
        </p:txBody>
      </p:sp>
      <p:sp>
        <p:nvSpPr>
          <p:cNvPr id="8" name="Rounded Rectangle 7"/>
          <p:cNvSpPr/>
          <p:nvPr/>
        </p:nvSpPr>
        <p:spPr>
          <a:xfrm>
            <a:off x="731520" y="3255264"/>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28416"/>
            <a:ext cx="10332720" cy="731520"/>
          </a:xfrm>
          <a:prstGeom prst="rect">
            <a:avLst/>
          </a:prstGeom>
          <a:noFill/>
        </p:spPr>
        <p:txBody>
          <a:bodyPr wrap="square">
            <a:spAutoFit/>
          </a:bodyPr>
          <a:lstStyle/>
          <a:p>
            <a:pPr>
              <a:defRPr sz="1300" b="1">
                <a:solidFill>
                  <a:srgbClr val="FBBF24"/>
                </a:solidFill>
              </a:defRPr>
            </a:pPr>
            <a:r>
              <a:t>3. ĐÁNH GIÁ ĐỊNH LƯỢNG</a:t>
            </a:r>
          </a:p>
          <a:p>
            <a:pPr>
              <a:defRPr sz="1100">
                <a:solidFill>
                  <a:srgbClr val="CBD5E1"/>
                </a:solidFill>
              </a:defRPr>
            </a:pPr>
            <a:r>
              <a:t>Đo lường toàn diện mAP@50, mAP@50-95, Precision, Recall và kiểm thử tốc độ thời gian thực (FPS) trên CPU/GPU.</a:t>
            </a:r>
          </a:p>
        </p:txBody>
      </p:sp>
      <p:sp>
        <p:nvSpPr>
          <p:cNvPr id="10" name="Rounded Rectangle 9"/>
          <p:cNvSpPr/>
          <p:nvPr/>
        </p:nvSpPr>
        <p:spPr>
          <a:xfrm>
            <a:off x="731520" y="4242816"/>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15968"/>
            <a:ext cx="10332720" cy="731520"/>
          </a:xfrm>
          <a:prstGeom prst="rect">
            <a:avLst/>
          </a:prstGeom>
          <a:noFill/>
        </p:spPr>
        <p:txBody>
          <a:bodyPr wrap="square">
            <a:spAutoFit/>
          </a:bodyPr>
          <a:lstStyle/>
          <a:p>
            <a:pPr>
              <a:defRPr sz="1300" b="1">
                <a:solidFill>
                  <a:srgbClr val="4ADE80"/>
                </a:solidFill>
              </a:defRPr>
            </a:pPr>
            <a:r>
              <a:t>4. KIỂM THỬ KHÁNG NHIỄU</a:t>
            </a:r>
          </a:p>
          <a:p>
            <a:pPr>
              <a:defRPr sz="1100">
                <a:solidFill>
                  <a:srgbClr val="CBD5E1"/>
                </a:solidFill>
              </a:defRPr>
            </a:pPr>
            <a:r>
              <a:t>Thực nghiệm độ bền vững trước nhiễu Gaussian, mờ chuyển động, suy giảm tương phản nhiệt (sương mù).</a:t>
            </a:r>
          </a:p>
        </p:txBody>
      </p:sp>
      <p:sp>
        <p:nvSpPr>
          <p:cNvPr id="12" name="Rounded Rectangle 11"/>
          <p:cNvSpPr/>
          <p:nvPr/>
        </p:nvSpPr>
        <p:spPr>
          <a:xfrm>
            <a:off x="731520" y="5230368"/>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03520"/>
            <a:ext cx="10332720" cy="731520"/>
          </a:xfrm>
          <a:prstGeom prst="rect">
            <a:avLst/>
          </a:prstGeom>
          <a:noFill/>
        </p:spPr>
        <p:txBody>
          <a:bodyPr wrap="square">
            <a:spAutoFit/>
          </a:bodyPr>
          <a:lstStyle/>
          <a:p>
            <a:pPr>
              <a:defRPr sz="1300" b="1">
                <a:solidFill>
                  <a:srgbClr val="A855F7"/>
                </a:solidFill>
              </a:defRPr>
            </a:pPr>
            <a:r>
              <a:t>5. PHÁT TRIỂN WEB STUDIO</a:t>
            </a:r>
          </a:p>
          <a:p>
            <a:pPr>
              <a:defRPr sz="1100">
                <a:solidFill>
                  <a:srgbClr val="CBD5E1"/>
                </a:solidFill>
              </a:defRPr>
            </a:pPr>
            <a:r>
              <a:t>Xây dựng ứng dụng web demo tự động nhận diện tức thì, tự chuyển ảnh nhiệt màu sang xám và trả kết quả màu.</a:t>
            </a:r>
          </a:p>
        </p:txBody>
      </p:sp>
      <p:sp>
        <p:nvSpPr>
          <p:cNvPr id="14" name="TextBox 13"/>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04</a:t>
            </a:r>
          </a:p>
          <a:p>
            <a:pPr>
              <a:spcBef>
                <a:spcPts val="400"/>
              </a:spcBef>
              <a:defRPr sz="2100" b="1">
                <a:solidFill>
                  <a:srgbClr val="F8FAFC"/>
                </a:solidFill>
              </a:defRPr>
            </a:pPr>
            <a:r>
              <a:t>BẢN CHẤT VẬT LÝ CỦA ẢNH NHIỆT HỒNG NGOẠI (LWIR)</a:t>
            </a:r>
          </a:p>
        </p:txBody>
      </p:sp>
      <p:sp>
        <p:nvSpPr>
          <p:cNvPr id="4" name="Rounded Rectangle 3"/>
          <p:cNvSpPr/>
          <p:nvPr/>
        </p:nvSpPr>
        <p:spPr>
          <a:xfrm>
            <a:off x="731520" y="1280160"/>
            <a:ext cx="56692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5303520" cy="4480560"/>
          </a:xfrm>
          <a:prstGeom prst="rect">
            <a:avLst/>
          </a:prstGeom>
          <a:noFill/>
        </p:spPr>
        <p:txBody>
          <a:bodyPr wrap="square">
            <a:spAutoFit/>
          </a:bodyPr>
          <a:lstStyle/>
          <a:p>
            <a:pPr>
              <a:defRPr sz="1400" b="1">
                <a:solidFill>
                  <a:srgbClr val="F97316"/>
                </a:solidFill>
              </a:defRPr>
            </a:pPr>
            <a:r>
              <a:t>🔬 CƠ SỞ BỨC XẠ NHIỆT &amp; ĐỊNH LUẬT WIEN</a:t>
            </a:r>
          </a:p>
          <a:p>
            <a:pPr>
              <a:spcBef>
                <a:spcPts val="600"/>
              </a:spcBef>
              <a:defRPr sz="1150">
                <a:solidFill>
                  <a:srgbClr val="CBD5E1"/>
                </a:solidFill>
              </a:defRPr>
            </a:pPr>
            <a:r>
              <a:t>• Mọi vật thể trên 0 Kelvin (-273.15°C) đều bức xạ sóng điện từ theo định luật Planck.</a:t>
            </a:r>
          </a:p>
          <a:p>
            <a:pPr>
              <a:spcBef>
                <a:spcPts val="600"/>
              </a:spcBef>
              <a:defRPr sz="1150">
                <a:solidFill>
                  <a:srgbClr val="CBD5E1"/>
                </a:solidFill>
              </a:defRPr>
            </a:pPr>
            <a:r>
              <a:t>• Định luật dịch chuyển Wien: λ_max = b / T  (với b ≈ 2898 µm·K).</a:t>
            </a:r>
          </a:p>
          <a:p>
            <a:pPr>
              <a:spcBef>
                <a:spcPts val="600"/>
              </a:spcBef>
              <a:defRPr sz="1150">
                <a:solidFill>
                  <a:srgbClr val="CBD5E1"/>
                </a:solidFill>
              </a:defRPr>
            </a:pPr>
            <a:r>
              <a:t>• Thân nhiệt con người T ≈ 305 Kelvin (37°C) =&gt; Bức xạ cực đại tại λ_max ≈ 9.5 µm.</a:t>
            </a:r>
          </a:p>
          <a:p>
            <a:pPr>
              <a:spcBef>
                <a:spcPts val="600"/>
              </a:spcBef>
              <a:defRPr sz="1150">
                <a:solidFill>
                  <a:srgbClr val="CBD5E1"/>
                </a:solidFill>
              </a:defRPr>
            </a:pPr>
            <a:r>
              <a:t>• Bước sóng 9.5 µm nằm trọn vẹn trong dải hồng ngoại sóng dài LWIR (8.0 – 14.0 µm).</a:t>
            </a:r>
          </a:p>
          <a:p>
            <a:pPr>
              <a:spcBef>
                <a:spcPts val="600"/>
              </a:spcBef>
              <a:defRPr sz="1150">
                <a:solidFill>
                  <a:srgbClr val="CBD5E1"/>
                </a:solidFill>
              </a:defRPr>
            </a:pPr>
            <a:r>
              <a:t>• Dải LWIR là 'cửa sổ khí quyển' giúp tín hiệu nhiệt đi xuyên qua đêm tối và khói mù tốt nhất.</a:t>
            </a:r>
          </a:p>
        </p:txBody>
      </p:sp>
      <p:sp>
        <p:nvSpPr>
          <p:cNvPr id="6" name="Rounded Rectangle 5"/>
          <p:cNvSpPr/>
          <p:nvPr/>
        </p:nvSpPr>
        <p:spPr>
          <a:xfrm>
            <a:off x="6675120" y="1280160"/>
            <a:ext cx="47548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_colormap_showcase.png"/>
          <p:cNvPicPr>
            <a:picLocks noChangeAspect="1"/>
          </p:cNvPicPr>
          <p:nvPr/>
        </p:nvPicPr>
        <p:blipFill>
          <a:blip r:embed="rId2"/>
          <a:stretch>
            <a:fillRect/>
          </a:stretch>
        </p:blipFill>
        <p:spPr>
          <a:xfrm>
            <a:off x="6858000" y="2011680"/>
            <a:ext cx="4389120" cy="1123002"/>
          </a:xfrm>
          <a:prstGeom prst="rect">
            <a:avLst/>
          </a:prstGeom>
        </p:spPr>
      </p:pic>
      <p:sp>
        <p:nvSpPr>
          <p:cNvPr id="8" name="TextBox 7"/>
          <p:cNvSpPr txBox="1"/>
          <p:nvPr/>
        </p:nvSpPr>
        <p:spPr>
          <a:xfrm>
            <a:off x="6858000" y="1371600"/>
            <a:ext cx="4389120" cy="548640"/>
          </a:xfrm>
          <a:prstGeom prst="rect">
            <a:avLst/>
          </a:prstGeom>
          <a:noFill/>
        </p:spPr>
        <p:txBody>
          <a:bodyPr wrap="none">
            <a:spAutoFit/>
          </a:bodyPr>
          <a:lstStyle/>
          <a:p>
            <a:pPr>
              <a:defRPr sz="1200" b="1">
                <a:solidFill>
                  <a:srgbClr val="06B6D4"/>
                </a:solidFill>
              </a:defRPr>
            </a:pPr>
            <a:r>
              <a:t>CÁC PHƯƠNG PHÁP HIỂN THỊ QUANG PHỔ NHIỆT</a:t>
            </a:r>
          </a:p>
        </p:txBody>
      </p:sp>
      <p:sp>
        <p:nvSpPr>
          <p:cNvPr id="9" name="TextBox 8"/>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05</a:t>
            </a:r>
          </a:p>
          <a:p>
            <a:pPr>
              <a:spcBef>
                <a:spcPts val="400"/>
              </a:spcBef>
              <a:defRPr sz="2100" b="1">
                <a:solidFill>
                  <a:srgbClr val="F8FAFC"/>
                </a:solidFill>
              </a:defRPr>
            </a:pPr>
            <a:r>
              <a:t>TỔNG QUAN NGHIÊN CỨU LIÊN QUAN (LITERATURE REVIEW)</a:t>
            </a:r>
          </a:p>
        </p:txBody>
      </p:sp>
      <p:sp>
        <p:nvSpPr>
          <p:cNvPr id="4" name="Rounded Rectangle 3"/>
          <p:cNvSpPr/>
          <p:nvPr/>
        </p:nvSpPr>
        <p:spPr>
          <a:xfrm>
            <a:off x="7315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480560"/>
          </a:xfrm>
          <a:prstGeom prst="rect">
            <a:avLst/>
          </a:prstGeom>
          <a:noFill/>
        </p:spPr>
        <p:txBody>
          <a:bodyPr wrap="square">
            <a:spAutoFit/>
          </a:bodyPr>
          <a:lstStyle/>
          <a:p>
            <a:pPr>
              <a:defRPr sz="1350" b="1">
                <a:solidFill>
                  <a:srgbClr val="06B6D4"/>
                </a:solidFill>
              </a:defRPr>
            </a:pPr>
            <a:r>
              <a:t>📄 1. BÀI BÁO MDPI SENSORS (2022)</a:t>
            </a:r>
          </a:p>
          <a:p>
            <a:pPr>
              <a:spcBef>
                <a:spcPts val="800"/>
              </a:spcBef>
              <a:defRPr sz="1100">
                <a:solidFill>
                  <a:srgbClr val="CBD5E1"/>
                </a:solidFill>
              </a:defRPr>
            </a:pPr>
            <a:r>
              <a:t>• Tên công trình: 'Pedestrian Detection in Thermal Images Using YOLO' (doi: 10.3390/s22145351).</a:t>
            </a:r>
          </a:p>
          <a:p>
            <a:pPr>
              <a:spcBef>
                <a:spcPts val="800"/>
              </a:spcBef>
              <a:defRPr sz="1100">
                <a:solidFill>
                  <a:srgbClr val="CBD5E1"/>
                </a:solidFill>
              </a:defRPr>
            </a:pPr>
            <a:r>
              <a:t>• Khẳng định mạng One-stage (họ YOLO) vượt trội Two-stage về tốc độ thời gian thực trên camera xe tự hành.</a:t>
            </a:r>
          </a:p>
          <a:p>
            <a:pPr>
              <a:spcBef>
                <a:spcPts val="800"/>
              </a:spcBef>
              <a:defRPr sz="1100">
                <a:solidFill>
                  <a:srgbClr val="CBD5E1"/>
                </a:solidFill>
              </a:defRPr>
            </a:pPr>
            <a:r>
              <a:t>• Đề xuất fine-tuning từ trọng số COCO giúp mạng nhanh chóng học đặc trưng hình thái người trong miền ảnh nhiệt.</a:t>
            </a:r>
          </a:p>
          <a:p>
            <a:pPr>
              <a:spcBef>
                <a:spcPts val="800"/>
              </a:spcBef>
              <a:defRPr sz="1100">
                <a:solidFill>
                  <a:srgbClr val="CBD5E1"/>
                </a:solidFill>
              </a:defRPr>
            </a:pPr>
            <a:r>
              <a:t>• Kế thừa: Tận dụng cơ chế transfer learning và tối ưu hóa hàm mất mát cho ảnh đơn sắc nhiệt.</a:t>
            </a:r>
          </a:p>
        </p:txBody>
      </p:sp>
      <p:sp>
        <p:nvSpPr>
          <p:cNvPr id="6" name="Rounded Rectangle 5"/>
          <p:cNvSpPr/>
          <p:nvPr/>
        </p:nvSpPr>
        <p:spPr>
          <a:xfrm>
            <a:off x="62179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480560"/>
          </a:xfrm>
          <a:prstGeom prst="rect">
            <a:avLst/>
          </a:prstGeom>
          <a:noFill/>
        </p:spPr>
        <p:txBody>
          <a:bodyPr wrap="square">
            <a:spAutoFit/>
          </a:bodyPr>
          <a:lstStyle/>
          <a:p>
            <a:pPr>
              <a:defRPr sz="1350" b="1">
                <a:solidFill>
                  <a:srgbClr val="F97316"/>
                </a:solidFill>
              </a:defRPr>
            </a:pPr>
            <a:r>
              <a:t>📄 2. BÀI BÁO ACM (2019)</a:t>
            </a:r>
          </a:p>
          <a:p>
            <a:pPr>
              <a:spcBef>
                <a:spcPts val="800"/>
              </a:spcBef>
              <a:defRPr sz="1100">
                <a:solidFill>
                  <a:srgbClr val="CBD5E1"/>
                </a:solidFill>
              </a:defRPr>
            </a:pPr>
            <a:r>
              <a:t>• Tên công trình: 'Thermal Pedestrian Detection and Optimization for Night Surveillance' (doi: 10.1145/3323933.3324076).</a:t>
            </a:r>
          </a:p>
          <a:p>
            <a:pPr>
              <a:spcBef>
                <a:spcPts val="800"/>
              </a:spcBef>
              <a:defRPr sz="1100">
                <a:solidFill>
                  <a:srgbClr val="CBD5E1"/>
                </a:solidFill>
              </a:defRPr>
            </a:pPr>
            <a:r>
              <a:t>• Tập trung bài toán giám sát an ninh ban đêm và tối ưu hóa bounding box trên cảm biến hồng ngoại.</a:t>
            </a:r>
          </a:p>
          <a:p>
            <a:pPr>
              <a:spcBef>
                <a:spcPts val="800"/>
              </a:spcBef>
              <a:defRPr sz="1100">
                <a:solidFill>
                  <a:srgbClr val="CBD5E1"/>
                </a:solidFill>
              </a:defRPr>
            </a:pPr>
            <a:r>
              <a:t>• Chỉ ra rằng gradient nhiệt độ đường viền thân nhiệt là đặc trưng phân biệt quan trọng nhất.</a:t>
            </a:r>
          </a:p>
          <a:p>
            <a:pPr>
              <a:spcBef>
                <a:spcPts val="800"/>
              </a:spcBef>
              <a:defRPr sz="1100">
                <a:solidFill>
                  <a:srgbClr val="CBD5E1"/>
                </a:solidFill>
              </a:defRPr>
            </a:pPr>
            <a:r>
              <a:t>• Kế thừa: Áp dụng các kỹ thuật tăng cường dải tương phản nhiệt độ để mô hình thích ứng với biến đổi thời tiết.</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06</a:t>
            </a:r>
          </a:p>
          <a:p>
            <a:pPr>
              <a:spcBef>
                <a:spcPts val="400"/>
              </a:spcBef>
              <a:defRPr sz="2100" b="1">
                <a:solidFill>
                  <a:srgbClr val="F8FAFC"/>
                </a:solidFill>
              </a:defRPr>
            </a:pPr>
            <a:r>
              <a:t>KIẾN TRÚC MÔ HÌNH YOLOV8 &amp; LỰA CHỌN YOLOV8N</a:t>
            </a:r>
          </a:p>
        </p:txBody>
      </p:sp>
      <p:sp>
        <p:nvSpPr>
          <p:cNvPr id="4" name="Rounded Rectangle 3"/>
          <p:cNvSpPr/>
          <p:nvPr/>
        </p:nvSpPr>
        <p:spPr>
          <a:xfrm>
            <a:off x="731520" y="1280160"/>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53312"/>
            <a:ext cx="10332720" cy="731520"/>
          </a:xfrm>
          <a:prstGeom prst="rect">
            <a:avLst/>
          </a:prstGeom>
          <a:noFill/>
        </p:spPr>
        <p:txBody>
          <a:bodyPr wrap="square">
            <a:spAutoFit/>
          </a:bodyPr>
          <a:lstStyle/>
          <a:p>
            <a:pPr>
              <a:defRPr sz="1300" b="1">
                <a:solidFill>
                  <a:srgbClr val="06B6D4"/>
                </a:solidFill>
              </a:defRPr>
            </a:pPr>
            <a:r>
              <a:t>MODULE C2F (BACKBONE)</a:t>
            </a:r>
          </a:p>
          <a:p>
            <a:pPr>
              <a:defRPr sz="1100">
                <a:solidFill>
                  <a:srgbClr val="CBD5E1"/>
                </a:solidFill>
              </a:defRPr>
            </a:pPr>
            <a:r>
              <a:t>Thay thế module C3, kết hợp đa nhánh Cross-Stage Partial giúp gradient lan truyền sâu, nhẹ và hội tụ nhanh trên các vùng nhiệt mờ.</a:t>
            </a:r>
          </a:p>
        </p:txBody>
      </p:sp>
      <p:sp>
        <p:nvSpPr>
          <p:cNvPr id="6" name="Rounded Rectangle 5"/>
          <p:cNvSpPr/>
          <p:nvPr/>
        </p:nvSpPr>
        <p:spPr>
          <a:xfrm>
            <a:off x="731520" y="2267712"/>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40864"/>
            <a:ext cx="10332720" cy="731520"/>
          </a:xfrm>
          <a:prstGeom prst="rect">
            <a:avLst/>
          </a:prstGeom>
          <a:noFill/>
        </p:spPr>
        <p:txBody>
          <a:bodyPr wrap="square">
            <a:spAutoFit/>
          </a:bodyPr>
          <a:lstStyle/>
          <a:p>
            <a:pPr>
              <a:defRPr sz="1300" b="1">
                <a:solidFill>
                  <a:srgbClr val="F97316"/>
                </a:solidFill>
              </a:defRPr>
            </a:pPr>
            <a:r>
              <a:t>DECOUPLED HEAD</a:t>
            </a:r>
          </a:p>
          <a:p>
            <a:pPr>
              <a:defRPr sz="1100">
                <a:solidFill>
                  <a:srgbClr val="CBD5E1"/>
                </a:solidFill>
              </a:defRPr>
            </a:pPr>
            <a:r>
              <a:t>Tách rời hoàn toàn nhánh phân loại nhãn và nhánh hồi quy tọa độ bounding box, giải quyết triệt để xung đột tối ưu hóa.</a:t>
            </a:r>
          </a:p>
        </p:txBody>
      </p:sp>
      <p:sp>
        <p:nvSpPr>
          <p:cNvPr id="8" name="Rounded Rectangle 7"/>
          <p:cNvSpPr/>
          <p:nvPr/>
        </p:nvSpPr>
        <p:spPr>
          <a:xfrm>
            <a:off x="731520" y="3255264"/>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28416"/>
            <a:ext cx="10332720" cy="731520"/>
          </a:xfrm>
          <a:prstGeom prst="rect">
            <a:avLst/>
          </a:prstGeom>
          <a:noFill/>
        </p:spPr>
        <p:txBody>
          <a:bodyPr wrap="square">
            <a:spAutoFit/>
          </a:bodyPr>
          <a:lstStyle/>
          <a:p>
            <a:pPr>
              <a:defRPr sz="1300" b="1">
                <a:solidFill>
                  <a:srgbClr val="FBBF24"/>
                </a:solidFill>
              </a:defRPr>
            </a:pPr>
            <a:r>
              <a:t>CƠ CHẾ ANCHOR-FREE</a:t>
            </a:r>
          </a:p>
          <a:p>
            <a:pPr>
              <a:defRPr sz="1100">
                <a:solidFill>
                  <a:srgbClr val="CBD5E1"/>
                </a:solidFill>
              </a:defRPr>
            </a:pPr>
            <a:r>
              <a:t>Dự đoán trực tiếp khoảng cách biên thay vì dùng mỏ neo cố định, thích ứng hoàn hảo với các dáng người đi bộ đa dạng.</a:t>
            </a:r>
          </a:p>
        </p:txBody>
      </p:sp>
      <p:sp>
        <p:nvSpPr>
          <p:cNvPr id="10" name="Rounded Rectangle 9"/>
          <p:cNvSpPr/>
          <p:nvPr/>
        </p:nvSpPr>
        <p:spPr>
          <a:xfrm>
            <a:off x="731520" y="4242816"/>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15968"/>
            <a:ext cx="10332720" cy="731520"/>
          </a:xfrm>
          <a:prstGeom prst="rect">
            <a:avLst/>
          </a:prstGeom>
          <a:noFill/>
        </p:spPr>
        <p:txBody>
          <a:bodyPr wrap="square">
            <a:spAutoFit/>
          </a:bodyPr>
          <a:lstStyle/>
          <a:p>
            <a:pPr>
              <a:defRPr sz="1300" b="1">
                <a:solidFill>
                  <a:srgbClr val="4ADE80"/>
                </a:solidFill>
              </a:defRPr>
            </a:pPr>
            <a:r>
              <a:t>HÀM MẤT MÁT CIOU + DFL</a:t>
            </a:r>
          </a:p>
          <a:p>
            <a:pPr>
              <a:defRPr sz="1100">
                <a:solidFill>
                  <a:srgbClr val="CBD5E1"/>
                </a:solidFill>
              </a:defRPr>
            </a:pPr>
            <a:r>
              <a:t>Complete IoU kết hợp Distribution Focal Loss giúp mô hình định vị chính xác biên khung bao ngay cả khi ranh giới nhiệt bị nhòe.</a:t>
            </a:r>
          </a:p>
        </p:txBody>
      </p:sp>
      <p:sp>
        <p:nvSpPr>
          <p:cNvPr id="12" name="Rounded Rectangle 11"/>
          <p:cNvSpPr/>
          <p:nvPr/>
        </p:nvSpPr>
        <p:spPr>
          <a:xfrm>
            <a:off x="731520" y="5230368"/>
            <a:ext cx="10698480" cy="8686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03520"/>
            <a:ext cx="10332720" cy="731520"/>
          </a:xfrm>
          <a:prstGeom prst="rect">
            <a:avLst/>
          </a:prstGeom>
          <a:noFill/>
        </p:spPr>
        <p:txBody>
          <a:bodyPr wrap="square">
            <a:spAutoFit/>
          </a:bodyPr>
          <a:lstStyle/>
          <a:p>
            <a:pPr>
              <a:defRPr sz="1300" b="1">
                <a:solidFill>
                  <a:srgbClr val="A855F7"/>
                </a:solidFill>
              </a:defRPr>
            </a:pPr>
            <a:r>
              <a:t>PHIÊN BẢN YOLOV8n (NANO)</a:t>
            </a:r>
          </a:p>
          <a:p>
            <a:pPr>
              <a:defRPr sz="1100">
                <a:solidFill>
                  <a:srgbClr val="CBD5E1"/>
                </a:solidFill>
              </a:defRPr>
            </a:pPr>
            <a:r>
              <a:t>Dung lượng siêu nhẹ (~6.2 MB, 3.01 triệu tham số), tốc độ tính toán siêu nhanh trên CPU, sẵn sàng nhúng thiết bị biên Edge AI.</a:t>
            </a:r>
          </a:p>
        </p:txBody>
      </p:sp>
      <p:sp>
        <p:nvSpPr>
          <p:cNvPr id="14" name="TextBox 13"/>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07</a:t>
            </a:r>
          </a:p>
          <a:p>
            <a:pPr>
              <a:spcBef>
                <a:spcPts val="400"/>
              </a:spcBef>
              <a:defRPr sz="2100" b="1">
                <a:solidFill>
                  <a:srgbClr val="F8FAFC"/>
                </a:solidFill>
              </a:defRPr>
            </a:pPr>
            <a:r>
              <a:t>HAI BỘ DỮ LIỆU THỰC NGHIỆM: FLIR ADAS &amp; LLVIP</a:t>
            </a:r>
          </a:p>
        </p:txBody>
      </p:sp>
      <p:sp>
        <p:nvSpPr>
          <p:cNvPr id="4" name="Rounded Rectangle 3"/>
          <p:cNvSpPr/>
          <p:nvPr/>
        </p:nvSpPr>
        <p:spPr>
          <a:xfrm>
            <a:off x="7315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480560"/>
          </a:xfrm>
          <a:prstGeom prst="rect">
            <a:avLst/>
          </a:prstGeom>
          <a:noFill/>
        </p:spPr>
        <p:txBody>
          <a:bodyPr wrap="square">
            <a:spAutoFit/>
          </a:bodyPr>
          <a:lstStyle/>
          <a:p>
            <a:pPr>
              <a:defRPr sz="1400" b="1">
                <a:solidFill>
                  <a:srgbClr val="06B6D4"/>
                </a:solidFill>
              </a:defRPr>
            </a:pPr>
            <a:r>
              <a:t>🚗 BỘ DỮ LIỆU FLIR ADAS v2</a:t>
            </a:r>
          </a:p>
          <a:p>
            <a:pPr>
              <a:spcBef>
                <a:spcPts val="800"/>
              </a:spcBef>
              <a:defRPr sz="1150">
                <a:solidFill>
                  <a:srgbClr val="CBD5E1"/>
                </a:solidFill>
              </a:defRPr>
            </a:pPr>
            <a:r>
              <a:t>• Camera nhiệt chuyên dụng FLIR Tau2 (LWIR 7.5–13.5 µm, 640 × 512).</a:t>
            </a:r>
          </a:p>
          <a:p>
            <a:pPr>
              <a:spcBef>
                <a:spcPts val="800"/>
              </a:spcBef>
              <a:defRPr sz="1150">
                <a:solidFill>
                  <a:srgbClr val="CBD5E1"/>
                </a:solidFill>
              </a:defRPr>
            </a:pPr>
            <a:r>
              <a:t>• Quy mô: 21.484 ảnh train, 2.288 ảnh val/test.</a:t>
            </a:r>
          </a:p>
          <a:p>
            <a:pPr>
              <a:spcBef>
                <a:spcPts val="800"/>
              </a:spcBef>
              <a:defRPr sz="1150">
                <a:solidFill>
                  <a:srgbClr val="CBD5E1"/>
                </a:solidFill>
              </a:defRPr>
            </a:pPr>
            <a:r>
              <a:t>• Bối cảnh: Giao thông đường phố đô thị Santa Barbara, hỗn hợp ngày và đêm.</a:t>
            </a:r>
          </a:p>
          <a:p>
            <a:pPr>
              <a:spcBef>
                <a:spcPts val="800"/>
              </a:spcBef>
              <a:defRPr sz="1150">
                <a:solidFill>
                  <a:srgbClr val="CBD5E1"/>
                </a:solidFill>
              </a:defRPr>
            </a:pPr>
            <a:r>
              <a:t>• Đối tượng: Đã bóc tách riêng lớp 'person' (Category ID = 1) từ COCO JSON.</a:t>
            </a:r>
          </a:p>
        </p:txBody>
      </p:sp>
      <p:sp>
        <p:nvSpPr>
          <p:cNvPr id="6" name="Rounded Rectangle 5"/>
          <p:cNvSpPr/>
          <p:nvPr/>
        </p:nvSpPr>
        <p:spPr>
          <a:xfrm>
            <a:off x="62179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480560"/>
          </a:xfrm>
          <a:prstGeom prst="rect">
            <a:avLst/>
          </a:prstGeom>
          <a:noFill/>
        </p:spPr>
        <p:txBody>
          <a:bodyPr wrap="square">
            <a:spAutoFit/>
          </a:bodyPr>
          <a:lstStyle/>
          <a:p>
            <a:pPr>
              <a:defRPr sz="1400" b="1">
                <a:solidFill>
                  <a:srgbClr val="F97316"/>
                </a:solidFill>
              </a:defRPr>
            </a:pPr>
            <a:r>
              <a:t>🌃 BỘ DỮ LIỆU LLVIP (PEDESTRIANS)</a:t>
            </a:r>
          </a:p>
          <a:p>
            <a:pPr>
              <a:spcBef>
                <a:spcPts val="800"/>
              </a:spcBef>
              <a:defRPr sz="1150">
                <a:solidFill>
                  <a:srgbClr val="CBD5E1"/>
                </a:solidFill>
              </a:defRPr>
            </a:pPr>
            <a:r>
              <a:t>• Chuyên biệt về người đi bộ trong điều kiện đêm tối và thiếu sáng nghiêm trọng.</a:t>
            </a:r>
          </a:p>
          <a:p>
            <a:pPr>
              <a:spcBef>
                <a:spcPts val="800"/>
              </a:spcBef>
              <a:defRPr sz="1150">
                <a:solidFill>
                  <a:srgbClr val="CBD5E1"/>
                </a:solidFill>
              </a:defRPr>
            </a:pPr>
            <a:r>
              <a:t>• Quy mô: 15.488 ảnh nhiệt độ nét cao 1280 × 1024 (12.025 train, 3.463 test).</a:t>
            </a:r>
          </a:p>
          <a:p>
            <a:pPr>
              <a:spcBef>
                <a:spcPts val="800"/>
              </a:spcBef>
              <a:defRPr sz="1150">
                <a:solidFill>
                  <a:srgbClr val="CBD5E1"/>
                </a:solidFill>
              </a:defRPr>
            </a:pPr>
            <a:r>
              <a:t>• Góc nhìn camera an ninh giám sát ngõ phố, bến xe, khu dân cư ban đêm.</a:t>
            </a:r>
          </a:p>
          <a:p>
            <a:pPr>
              <a:spcBef>
                <a:spcPts val="800"/>
              </a:spcBef>
              <a:defRPr sz="1150">
                <a:solidFill>
                  <a:srgbClr val="CBD5E1"/>
                </a:solidFill>
              </a:defRPr>
            </a:pPr>
            <a:r>
              <a:t>• Annotation: File Pascal VOC XML gán nhãn người đi bộ tỉ mỉ, độ chính xác cao.</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08</a:t>
            </a:r>
          </a:p>
          <a:p>
            <a:pPr>
              <a:spcBef>
                <a:spcPts val="400"/>
              </a:spcBef>
              <a:defRPr sz="2100" b="1">
                <a:solidFill>
                  <a:srgbClr val="F8FAFC"/>
                </a:solidFill>
              </a:defRPr>
            </a:pPr>
            <a:r>
              <a:t>QUY TRÌNH TIỀN XỬ LÝ &amp; CHUẨN HÓA NHÃN YOLO</a:t>
            </a:r>
          </a:p>
        </p:txBody>
      </p:sp>
      <p:sp>
        <p:nvSpPr>
          <p:cNvPr id="4" name="Rounded Rectangle 3"/>
          <p:cNvSpPr/>
          <p:nvPr/>
        </p:nvSpPr>
        <p:spPr>
          <a:xfrm>
            <a:off x="731520" y="1280160"/>
            <a:ext cx="106984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10149840" cy="4480560"/>
          </a:xfrm>
          <a:prstGeom prst="rect">
            <a:avLst/>
          </a:prstGeom>
          <a:noFill/>
        </p:spPr>
        <p:txBody>
          <a:bodyPr wrap="square">
            <a:spAutoFit/>
          </a:bodyPr>
          <a:lstStyle/>
          <a:p>
            <a:pPr>
              <a:defRPr sz="1400" b="1">
                <a:solidFill>
                  <a:srgbClr val="FBBF24"/>
                </a:solidFill>
              </a:defRPr>
            </a:pPr>
            <a:r>
              <a:t>⚙️ QUY TRÌNH CHUẨN HÓA TỌA ĐỘ BOUNDING BOX (prepare_yolo.py)</a:t>
            </a:r>
          </a:p>
          <a:p>
            <a:pPr>
              <a:spcBef>
                <a:spcPts val="1000"/>
              </a:spcBef>
              <a:defRPr sz="1200">
                <a:solidFill>
                  <a:srgbClr val="CBD5E1"/>
                </a:solidFill>
              </a:defRPr>
            </a:pPr>
            <a:r>
              <a:t>• COCO format: [xmin, ymin, width, height]  ➔  Chuyển sang tâm và tỷ lệ chuẩn tương đối [0, 1].</a:t>
            </a:r>
          </a:p>
          <a:p>
            <a:pPr>
              <a:spcBef>
                <a:spcPts val="1000"/>
              </a:spcBef>
              <a:defRPr sz="1200">
                <a:solidFill>
                  <a:srgbClr val="CBD5E1"/>
                </a:solidFill>
              </a:defRPr>
            </a:pPr>
            <a:r>
              <a:t>• Pascal VOC XML: [xmin, ymin, xmax, ymax]  ➔  Chuyển sang tâm và tỷ lệ chuẩn tương đối [0, 1].</a:t>
            </a:r>
          </a:p>
          <a:p>
            <a:pPr>
              <a:spcBef>
                <a:spcPts val="1000"/>
              </a:spcBef>
              <a:defRPr sz="1200">
                <a:solidFill>
                  <a:srgbClr val="CBD5E1"/>
                </a:solidFill>
              </a:defRPr>
            </a:pPr>
            <a:r>
              <a:t>• Công thức chuẩn hóa: x_center = (xmin + w/2) / W  ;  y_center = (ymin + h/2) / H  ;  w_norm = w / W  ;  h_norm = h / H</a:t>
            </a:r>
          </a:p>
          <a:p>
            <a:pPr>
              <a:spcBef>
                <a:spcPts val="1000"/>
              </a:spcBef>
              <a:defRPr sz="1200">
                <a:solidFill>
                  <a:srgbClr val="CBD5E1"/>
                </a:solidFill>
              </a:defRPr>
            </a:pPr>
            <a:r>
              <a:t>• Định dạng xuất file nhãn YOLO: '0 &lt;x_center&gt; &lt;y_center&gt; &lt;width&gt; &lt;height&gt;' lưu trong file txt đồng danh.</a:t>
            </a:r>
          </a:p>
          <a:p>
            <a:pPr>
              <a:spcBef>
                <a:spcPts val="1000"/>
              </a:spcBef>
              <a:defRPr sz="1200">
                <a:solidFill>
                  <a:srgbClr val="CBD5E1"/>
                </a:solidFill>
              </a:defRPr>
            </a:pPr>
            <a:r>
              <a:t>• Tăng cường dữ liệu (Data Augmentation): Mosaic ghép 4 ảnh đa tỉ lệ, Random Flip, và biến đổi dải tương phản nhiệt.</a:t>
            </a:r>
          </a:p>
        </p:txBody>
      </p:sp>
      <p:sp>
        <p:nvSpPr>
          <p:cNvPr id="6" name="TextBox 5"/>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09</a:t>
            </a:r>
          </a:p>
          <a:p>
            <a:pPr>
              <a:spcBef>
                <a:spcPts val="400"/>
              </a:spcBef>
              <a:defRPr sz="2100" b="1">
                <a:solidFill>
                  <a:srgbClr val="F8FAFC"/>
                </a:solidFill>
              </a:defRPr>
            </a:pPr>
            <a:r>
              <a:t>SƠ ĐỒ QUY TRÌNH HỆ THỐNG TỔNG THỂ</a:t>
            </a:r>
          </a:p>
        </p:txBody>
      </p:sp>
      <p:pic>
        <p:nvPicPr>
          <p:cNvPr id="4" name="Picture 3" descr="system_architecture.png"/>
          <p:cNvPicPr>
            <a:picLocks noChangeAspect="1"/>
          </p:cNvPicPr>
          <p:nvPr/>
        </p:nvPicPr>
        <p:blipFill>
          <a:blip r:embed="rId2"/>
          <a:stretch>
            <a:fillRect/>
          </a:stretch>
        </p:blipFill>
        <p:spPr>
          <a:xfrm>
            <a:off x="914400" y="1371600"/>
            <a:ext cx="10332720" cy="4688797"/>
          </a:xfrm>
          <a:prstGeom prst="rect">
            <a:avLst/>
          </a:prstGeom>
        </p:spPr>
      </p:pic>
      <p:sp>
        <p:nvSpPr>
          <p:cNvPr id="5" name="TextBox 4"/>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10</a:t>
            </a:r>
          </a:p>
          <a:p>
            <a:pPr>
              <a:spcBef>
                <a:spcPts val="400"/>
              </a:spcBef>
              <a:defRPr sz="2100" b="1">
                <a:solidFill>
                  <a:srgbClr val="F8FAFC"/>
                </a:solidFill>
              </a:defRPr>
            </a:pPr>
            <a:r>
              <a:t>THIẾT LẬP THỰC NGHIỆM &amp; SIÊU THAM SỐ HUẤN LUYỆN</a:t>
            </a:r>
          </a:p>
        </p:txBody>
      </p:sp>
      <p:sp>
        <p:nvSpPr>
          <p:cNvPr id="4" name="Rounded Rectangle 3"/>
          <p:cNvSpPr/>
          <p:nvPr/>
        </p:nvSpPr>
        <p:spPr>
          <a:xfrm>
            <a:off x="731520" y="1280160"/>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25880"/>
            <a:ext cx="10332720" cy="457200"/>
          </a:xfrm>
          <a:prstGeom prst="rect">
            <a:avLst/>
          </a:prstGeom>
          <a:noFill/>
        </p:spPr>
        <p:txBody>
          <a:bodyPr wrap="none">
            <a:spAutoFit/>
          </a:bodyPr>
          <a:lstStyle/>
          <a:p>
            <a:pPr>
              <a:defRPr sz="1150" b="1">
                <a:solidFill>
                  <a:srgbClr val="F97316"/>
                </a:solidFill>
              </a:defRPr>
            </a:pPr>
            <a:r>
              <a:t>Mô hình cơ sở: </a:t>
            </a:r>
            <a:r>
              <a:rPr b="1">
                <a:solidFill>
                  <a:srgbClr val="F8FAFC"/>
                </a:solidFill>
              </a:rPr>
              <a:t>YOLOv8n (Nano - Ultralytics)  </a:t>
            </a:r>
            <a:r>
              <a:rPr i="1">
                <a:solidFill>
                  <a:srgbClr val="94A3B8"/>
                </a:solidFill>
              </a:rPr>
              <a:t>(Tối ưu hóa tốc độ và trọng lượng nhẹ)</a:t>
            </a:r>
          </a:p>
        </p:txBody>
      </p:sp>
      <p:sp>
        <p:nvSpPr>
          <p:cNvPr id="6" name="Rounded Rectangle 5"/>
          <p:cNvSpPr/>
          <p:nvPr/>
        </p:nvSpPr>
        <p:spPr>
          <a:xfrm>
            <a:off x="731520" y="1901952"/>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10332720" cy="457200"/>
          </a:xfrm>
          <a:prstGeom prst="rect">
            <a:avLst/>
          </a:prstGeom>
          <a:noFill/>
        </p:spPr>
        <p:txBody>
          <a:bodyPr wrap="none">
            <a:spAutoFit/>
          </a:bodyPr>
          <a:lstStyle/>
          <a:p>
            <a:pPr>
              <a:defRPr sz="1150" b="1">
                <a:solidFill>
                  <a:srgbClr val="F97316"/>
                </a:solidFill>
              </a:defRPr>
            </a:pPr>
            <a:r>
              <a:t>Trọng số khởi tạo: </a:t>
            </a:r>
            <a:r>
              <a:rPr b="1">
                <a:solidFill>
                  <a:srgbClr val="F8FAFC"/>
                </a:solidFill>
              </a:rPr>
              <a:t>yolov8n.pt (COCO pre-trained)  </a:t>
            </a:r>
            <a:r>
              <a:rPr i="1">
                <a:solidFill>
                  <a:srgbClr val="94A3B8"/>
                </a:solidFill>
              </a:rPr>
              <a:t>(Kế thừa tính năng trích xuất đặc trưng hình học)</a:t>
            </a:r>
          </a:p>
        </p:txBody>
      </p:sp>
      <p:sp>
        <p:nvSpPr>
          <p:cNvPr id="8" name="Rounded Rectangle 7"/>
          <p:cNvSpPr/>
          <p:nvPr/>
        </p:nvSpPr>
        <p:spPr>
          <a:xfrm>
            <a:off x="731520" y="2523744"/>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9464"/>
            <a:ext cx="10332720" cy="457200"/>
          </a:xfrm>
          <a:prstGeom prst="rect">
            <a:avLst/>
          </a:prstGeom>
          <a:noFill/>
        </p:spPr>
        <p:txBody>
          <a:bodyPr wrap="none">
            <a:spAutoFit/>
          </a:bodyPr>
          <a:lstStyle/>
          <a:p>
            <a:pPr>
              <a:defRPr sz="1150" b="1">
                <a:solidFill>
                  <a:srgbClr val="F97316"/>
                </a:solidFill>
              </a:defRPr>
            </a:pPr>
            <a:r>
              <a:t>Kích thước đầu vào: </a:t>
            </a:r>
            <a:r>
              <a:rPr b="1">
                <a:solidFill>
                  <a:srgbClr val="F8FAFC"/>
                </a:solidFill>
              </a:rPr>
              <a:t>416 × 416 pixels  </a:t>
            </a:r>
            <a:r>
              <a:rPr i="1">
                <a:solidFill>
                  <a:srgbClr val="94A3B8"/>
                </a:solidFill>
              </a:rPr>
              <a:t>(Cân bằng hoàn hảo giữa độ nét và FPS CPU)</a:t>
            </a:r>
          </a:p>
        </p:txBody>
      </p:sp>
      <p:sp>
        <p:nvSpPr>
          <p:cNvPr id="10" name="Rounded Rectangle 9"/>
          <p:cNvSpPr/>
          <p:nvPr/>
        </p:nvSpPr>
        <p:spPr>
          <a:xfrm>
            <a:off x="731520" y="3145536"/>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91256"/>
            <a:ext cx="10332720" cy="457200"/>
          </a:xfrm>
          <a:prstGeom prst="rect">
            <a:avLst/>
          </a:prstGeom>
          <a:noFill/>
        </p:spPr>
        <p:txBody>
          <a:bodyPr wrap="none">
            <a:spAutoFit/>
          </a:bodyPr>
          <a:lstStyle/>
          <a:p>
            <a:pPr>
              <a:defRPr sz="1150" b="1">
                <a:solidFill>
                  <a:srgbClr val="F97316"/>
                </a:solidFill>
              </a:defRPr>
            </a:pPr>
            <a:r>
              <a:t>Số Epoch huấn luyện: </a:t>
            </a:r>
            <a:r>
              <a:rPr b="1">
                <a:solidFill>
                  <a:srgbClr val="F8FAFC"/>
                </a:solidFill>
              </a:rPr>
              <a:t>50 Epochs  </a:t>
            </a:r>
            <a:r>
              <a:rPr i="1">
                <a:solidFill>
                  <a:srgbClr val="94A3B8"/>
                </a:solidFill>
              </a:rPr>
              <a:t>(Đảm bảo mô hình hội tụ sâu và ổn định)</a:t>
            </a:r>
          </a:p>
        </p:txBody>
      </p:sp>
      <p:sp>
        <p:nvSpPr>
          <p:cNvPr id="12" name="Rounded Rectangle 11"/>
          <p:cNvSpPr/>
          <p:nvPr/>
        </p:nvSpPr>
        <p:spPr>
          <a:xfrm>
            <a:off x="731520" y="3767328"/>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13048"/>
            <a:ext cx="10332720" cy="457200"/>
          </a:xfrm>
          <a:prstGeom prst="rect">
            <a:avLst/>
          </a:prstGeom>
          <a:noFill/>
        </p:spPr>
        <p:txBody>
          <a:bodyPr wrap="none">
            <a:spAutoFit/>
          </a:bodyPr>
          <a:lstStyle/>
          <a:p>
            <a:pPr>
              <a:defRPr sz="1150" b="1">
                <a:solidFill>
                  <a:srgbClr val="F97316"/>
                </a:solidFill>
              </a:defRPr>
            </a:pPr>
            <a:r>
              <a:t>Kích thước Batch: </a:t>
            </a:r>
            <a:r>
              <a:rPr b="1">
                <a:solidFill>
                  <a:srgbClr val="F8FAFC"/>
                </a:solidFill>
              </a:rPr>
              <a:t>4  </a:t>
            </a:r>
            <a:r>
              <a:rPr i="1">
                <a:solidFill>
                  <a:srgbClr val="94A3B8"/>
                </a:solidFill>
              </a:rPr>
              <a:t>(Phù hợp bộ nhớ phần cứng)</a:t>
            </a:r>
          </a:p>
        </p:txBody>
      </p:sp>
      <p:sp>
        <p:nvSpPr>
          <p:cNvPr id="14" name="Rounded Rectangle 13"/>
          <p:cNvSpPr/>
          <p:nvPr/>
        </p:nvSpPr>
        <p:spPr>
          <a:xfrm>
            <a:off x="731520" y="4389120"/>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34840"/>
            <a:ext cx="10332720" cy="457200"/>
          </a:xfrm>
          <a:prstGeom prst="rect">
            <a:avLst/>
          </a:prstGeom>
          <a:noFill/>
        </p:spPr>
        <p:txBody>
          <a:bodyPr wrap="none">
            <a:spAutoFit/>
          </a:bodyPr>
          <a:lstStyle/>
          <a:p>
            <a:pPr>
              <a:defRPr sz="1150" b="1">
                <a:solidFill>
                  <a:srgbClr val="F97316"/>
                </a:solidFill>
              </a:defRPr>
            </a:pPr>
            <a:r>
              <a:t>Thuật toán tối ưu: </a:t>
            </a:r>
            <a:r>
              <a:rPr b="1">
                <a:solidFill>
                  <a:srgbClr val="F8FAFC"/>
                </a:solidFill>
              </a:rPr>
              <a:t>SGD / AdamW (Cosine LR)  </a:t>
            </a:r>
            <a:r>
              <a:rPr i="1">
                <a:solidFill>
                  <a:srgbClr val="94A3B8"/>
                </a:solidFill>
              </a:rPr>
              <a:t>(Động lượng momentum = 0.937, suy giảm mượt mà)</a:t>
            </a:r>
          </a:p>
        </p:txBody>
      </p:sp>
      <p:sp>
        <p:nvSpPr>
          <p:cNvPr id="16" name="Rounded Rectangle 15"/>
          <p:cNvSpPr/>
          <p:nvPr/>
        </p:nvSpPr>
        <p:spPr>
          <a:xfrm>
            <a:off x="731520" y="5010912"/>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056631"/>
            <a:ext cx="10332720" cy="457200"/>
          </a:xfrm>
          <a:prstGeom prst="rect">
            <a:avLst/>
          </a:prstGeom>
          <a:noFill/>
        </p:spPr>
        <p:txBody>
          <a:bodyPr wrap="none">
            <a:spAutoFit/>
          </a:bodyPr>
          <a:lstStyle/>
          <a:p>
            <a:pPr>
              <a:defRPr sz="1150" b="1">
                <a:solidFill>
                  <a:srgbClr val="F97316"/>
                </a:solidFill>
              </a:defRPr>
            </a:pPr>
            <a:r>
              <a:t>Tốc độ học (LR): </a:t>
            </a:r>
            <a:r>
              <a:rPr b="1">
                <a:solidFill>
                  <a:srgbClr val="F8FAFC"/>
                </a:solidFill>
              </a:rPr>
              <a:t>lr0 = 0.01  ➔  lrf = 0.0001  </a:t>
            </a:r>
            <a:r>
              <a:rPr i="1">
                <a:solidFill>
                  <a:srgbClr val="94A3B8"/>
                </a:solidFill>
              </a:rPr>
              <a:t>(Cosine Learning Rate Scheduler)</a:t>
            </a:r>
          </a:p>
        </p:txBody>
      </p:sp>
      <p:sp>
        <p:nvSpPr>
          <p:cNvPr id="18" name="Rounded Rectangle 17"/>
          <p:cNvSpPr/>
          <p:nvPr/>
        </p:nvSpPr>
        <p:spPr>
          <a:xfrm>
            <a:off x="731520" y="5632703"/>
            <a:ext cx="10698480" cy="548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78423"/>
            <a:ext cx="10332720" cy="457200"/>
          </a:xfrm>
          <a:prstGeom prst="rect">
            <a:avLst/>
          </a:prstGeom>
          <a:noFill/>
        </p:spPr>
        <p:txBody>
          <a:bodyPr wrap="none">
            <a:spAutoFit/>
          </a:bodyPr>
          <a:lstStyle/>
          <a:p>
            <a:pPr>
              <a:defRPr sz="1150" b="1">
                <a:solidFill>
                  <a:srgbClr val="F97316"/>
                </a:solidFill>
              </a:defRPr>
            </a:pPr>
            <a:r>
              <a:t>Hàm mất mát: </a:t>
            </a:r>
            <a:r>
              <a:rPr b="1">
                <a:solidFill>
                  <a:srgbClr val="F8FAFC"/>
                </a:solidFill>
              </a:rPr>
              <a:t>CIoU + DFL + BCE Cls Loss  </a:t>
            </a:r>
            <a:r>
              <a:rPr i="1">
                <a:solidFill>
                  <a:srgbClr val="94A3B8"/>
                </a:solidFill>
              </a:rPr>
              <a:t>(Hồi quy chính xác biên viền thân nhiệt)</a:t>
            </a:r>
          </a:p>
        </p:txBody>
      </p:sp>
      <p:sp>
        <p:nvSpPr>
          <p:cNvPr id="20" name="TextBox 19"/>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11</a:t>
            </a:r>
          </a:p>
          <a:p>
            <a:pPr>
              <a:spcBef>
                <a:spcPts val="400"/>
              </a:spcBef>
              <a:defRPr sz="2100" b="1">
                <a:solidFill>
                  <a:srgbClr val="F8FAFC"/>
                </a:solidFill>
              </a:defRPr>
            </a:pPr>
            <a:r>
              <a:t>TIẾN TRÌNH HUẤN LUYỆN &amp; SỰ HỘI TỤ CỦA HÀM MẤT MÁT</a:t>
            </a:r>
          </a:p>
        </p:txBody>
      </p:sp>
      <p:pic>
        <p:nvPicPr>
          <p:cNvPr id="4" name="Picture 3" descr="training_curves.png"/>
          <p:cNvPicPr>
            <a:picLocks noChangeAspect="1"/>
          </p:cNvPicPr>
          <p:nvPr/>
        </p:nvPicPr>
        <p:blipFill>
          <a:blip r:embed="rId2"/>
          <a:stretch>
            <a:fillRect/>
          </a:stretch>
        </p:blipFill>
        <p:spPr>
          <a:xfrm>
            <a:off x="914400" y="1371600"/>
            <a:ext cx="10332720" cy="4305300"/>
          </a:xfrm>
          <a:prstGeom prst="rect">
            <a:avLst/>
          </a:prstGeom>
        </p:spPr>
      </p:pic>
      <p:sp>
        <p:nvSpPr>
          <p:cNvPr id="5" name="TextBox 4"/>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12</a:t>
            </a:r>
          </a:p>
          <a:p>
            <a:pPr>
              <a:spcBef>
                <a:spcPts val="400"/>
              </a:spcBef>
              <a:defRPr sz="2100" b="1">
                <a:solidFill>
                  <a:srgbClr val="F8FAFC"/>
                </a:solidFill>
              </a:defRPr>
            </a:pPr>
            <a:r>
              <a:t>KẾT QUẢ THỰC NGHIỆM ĐỊNH LƯỢNG CHÍNH THỨC (50 EPOCHS)</a:t>
            </a:r>
          </a:p>
        </p:txBody>
      </p:sp>
      <p:pic>
        <p:nvPicPr>
          <p:cNvPr id="4" name="Picture 3" descr="slide_metrics_comparison.png"/>
          <p:cNvPicPr>
            <a:picLocks noChangeAspect="1"/>
          </p:cNvPicPr>
          <p:nvPr/>
        </p:nvPicPr>
        <p:blipFill>
          <a:blip r:embed="rId2"/>
          <a:stretch>
            <a:fillRect/>
          </a:stretch>
        </p:blipFill>
        <p:spPr>
          <a:xfrm>
            <a:off x="731520" y="1371600"/>
            <a:ext cx="6035040" cy="3187044"/>
          </a:xfrm>
          <a:prstGeom prst="rect">
            <a:avLst/>
          </a:prstGeom>
        </p:spPr>
      </p:pic>
      <p:sp>
        <p:nvSpPr>
          <p:cNvPr id="5" name="Rounded Rectangle 4"/>
          <p:cNvSpPr/>
          <p:nvPr/>
        </p:nvSpPr>
        <p:spPr>
          <a:xfrm>
            <a:off x="6949440" y="1371600"/>
            <a:ext cx="4480560" cy="4754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0" y="1554480"/>
            <a:ext cx="4114800" cy="4389120"/>
          </a:xfrm>
          <a:prstGeom prst="rect">
            <a:avLst/>
          </a:prstGeom>
          <a:noFill/>
        </p:spPr>
        <p:txBody>
          <a:bodyPr wrap="square">
            <a:spAutoFit/>
          </a:bodyPr>
          <a:lstStyle/>
          <a:p>
            <a:pPr>
              <a:defRPr sz="1300" b="1">
                <a:solidFill>
                  <a:srgbClr val="FBBF24"/>
                </a:solidFill>
              </a:defRPr>
            </a:pPr>
            <a:r>
              <a:t>🏆 KẾT QUẢ NGHIỆM THU 50 EPOCHS</a:t>
            </a:r>
          </a:p>
          <a:p>
            <a:pPr>
              <a:spcBef>
                <a:spcPts val="600"/>
              </a:spcBef>
              <a:defRPr sz="1100" b="1">
                <a:solidFill>
                  <a:srgbClr val="06B6D4"/>
                </a:solidFill>
              </a:defRPr>
            </a:pPr>
            <a:r>
              <a:t>MÔ HÌNH FLIR ADAS v2:</a:t>
            </a:r>
          </a:p>
          <a:p>
            <a:pPr>
              <a:defRPr sz="1050">
                <a:solidFill>
                  <a:srgbClr val="CBD5E1"/>
                </a:solidFill>
              </a:defRPr>
            </a:pPr>
            <a:r>
              <a:t>  • Precision: 78.49%</a:t>
            </a:r>
          </a:p>
          <a:p>
            <a:pPr>
              <a:defRPr sz="1050">
                <a:solidFill>
                  <a:srgbClr val="CBD5E1"/>
                </a:solidFill>
              </a:defRPr>
            </a:pPr>
            <a:r>
              <a:t>  • Recall: 58.37%</a:t>
            </a:r>
          </a:p>
          <a:p>
            <a:pPr>
              <a:defRPr sz="1050">
                <a:solidFill>
                  <a:srgbClr val="CBD5E1"/>
                </a:solidFill>
              </a:defRPr>
            </a:pPr>
            <a:r>
              <a:t>  • mAP@50: 67.07%</a:t>
            </a:r>
          </a:p>
          <a:p>
            <a:pPr>
              <a:defRPr sz="1050">
                <a:solidFill>
                  <a:srgbClr val="CBD5E1"/>
                </a:solidFill>
              </a:defRPr>
            </a:pPr>
            <a:r>
              <a:t>  • mAP@50-95: 34.26%</a:t>
            </a:r>
          </a:p>
          <a:p>
            <a:pPr>
              <a:spcBef>
                <a:spcPts val="600"/>
              </a:spcBef>
              <a:defRPr sz="1100" b="1">
                <a:solidFill>
                  <a:srgbClr val="06B6D4"/>
                </a:solidFill>
              </a:defRPr>
            </a:pPr>
            <a:r>
              <a:t>MÔ HÌNH LLVIP (NGƯỜI ĐÊM):</a:t>
            </a:r>
          </a:p>
          <a:p>
            <a:pPr>
              <a:defRPr sz="1050">
                <a:solidFill>
                  <a:srgbClr val="CBD5E1"/>
                </a:solidFill>
              </a:defRPr>
            </a:pPr>
            <a:r>
              <a:t>  • Precision: 90.24%</a:t>
            </a:r>
          </a:p>
          <a:p>
            <a:pPr>
              <a:defRPr sz="1050">
                <a:solidFill>
                  <a:srgbClr val="CBD5E1"/>
                </a:solidFill>
              </a:defRPr>
            </a:pPr>
            <a:r>
              <a:t>  • Recall: 82.61%</a:t>
            </a:r>
          </a:p>
          <a:p>
            <a:pPr>
              <a:defRPr sz="1050">
                <a:solidFill>
                  <a:srgbClr val="CBD5E1"/>
                </a:solidFill>
              </a:defRPr>
            </a:pPr>
            <a:r>
              <a:t>  • mAP@50: 88.52%</a:t>
            </a:r>
          </a:p>
          <a:p>
            <a:pPr>
              <a:defRPr sz="1050">
                <a:solidFill>
                  <a:srgbClr val="CBD5E1"/>
                </a:solidFill>
              </a:defRPr>
            </a:pPr>
            <a:r>
              <a:t>  • mAP@50-95: 54.18%</a:t>
            </a:r>
          </a:p>
          <a:p>
            <a:pPr>
              <a:spcBef>
                <a:spcPts val="600"/>
              </a:spcBef>
              <a:defRPr sz="1100" b="1">
                <a:solidFill>
                  <a:srgbClr val="06B6D4"/>
                </a:solidFill>
              </a:defRPr>
            </a:pPr>
            <a:r>
              <a:t>ĐÁNH GIÁ TỔNG QUAN:</a:t>
            </a:r>
          </a:p>
          <a:p>
            <a:pPr>
              <a:defRPr sz="1050">
                <a:solidFill>
                  <a:srgbClr val="CBD5E1"/>
                </a:solidFill>
              </a:defRPr>
            </a:pPr>
            <a:r>
              <a:t>  • Vượt 100% mục tiêu ban đầu đề ra.</a:t>
            </a:r>
          </a:p>
          <a:p>
            <a:pPr>
              <a:defRPr sz="1050">
                <a:solidFill>
                  <a:srgbClr val="CBD5E1"/>
                </a:solidFill>
              </a:defRPr>
            </a:pPr>
            <a:r>
              <a:t>  • Precision ~78.5% - 90.2% hạn chế tối đa báo động giả do nguồn nhiệt đô thị.</a:t>
            </a:r>
          </a:p>
        </p:txBody>
      </p:sp>
      <p:sp>
        <p:nvSpPr>
          <p:cNvPr id="7" name="TextBox 6"/>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13</a:t>
            </a:r>
          </a:p>
          <a:p>
            <a:pPr>
              <a:spcBef>
                <a:spcPts val="400"/>
              </a:spcBef>
              <a:defRPr sz="2100" b="1">
                <a:solidFill>
                  <a:srgbClr val="F8FAFC"/>
                </a:solidFill>
              </a:defRPr>
            </a:pPr>
            <a:r>
              <a:t>ĐÁNH GIÁ TỐC ĐỘ XỬ LÝ THỜI GIAN THỰC (FPS BENCHMARKS)</a:t>
            </a:r>
          </a:p>
        </p:txBody>
      </p:sp>
      <p:sp>
        <p:nvSpPr>
          <p:cNvPr id="4" name="Rounded Rectangle 3"/>
          <p:cNvSpPr/>
          <p:nvPr/>
        </p:nvSpPr>
        <p:spPr>
          <a:xfrm>
            <a:off x="731520" y="1463040"/>
            <a:ext cx="10698480"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777240"/>
          </a:xfrm>
          <a:prstGeom prst="rect">
            <a:avLst/>
          </a:prstGeom>
          <a:noFill/>
        </p:spPr>
        <p:txBody>
          <a:bodyPr wrap="none">
            <a:spAutoFit/>
          </a:bodyPr>
          <a:lstStyle/>
          <a:p>
            <a:pPr>
              <a:defRPr sz="1200" b="1">
                <a:solidFill>
                  <a:srgbClr val="4ADE80"/>
                </a:solidFill>
              </a:defRPr>
            </a:pPr>
            <a:r>
              <a:t>CPU Intel Core i5 / i7  |  Độ phân giải: 416 × 416</a:t>
            </a:r>
          </a:p>
          <a:p>
            <a:pPr>
              <a:defRPr sz="1300" b="1">
                <a:solidFill>
                  <a:srgbClr val="F8FAFC"/>
                </a:solidFill>
              </a:defRPr>
            </a:pPr>
            <a:r>
              <a:t>Độ trễ suy luận: 28.5 ms  ➔  Tốc độ: 35.1 FPS  (Đạt chuẩn Real-time (&gt; 30 FPS))</a:t>
            </a:r>
          </a:p>
        </p:txBody>
      </p:sp>
      <p:sp>
        <p:nvSpPr>
          <p:cNvPr id="6" name="Rounded Rectangle 5"/>
          <p:cNvSpPr/>
          <p:nvPr/>
        </p:nvSpPr>
        <p:spPr>
          <a:xfrm>
            <a:off x="731520" y="2606040"/>
            <a:ext cx="10698480"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80"/>
            <a:ext cx="10332720" cy="777240"/>
          </a:xfrm>
          <a:prstGeom prst="rect">
            <a:avLst/>
          </a:prstGeom>
          <a:noFill/>
        </p:spPr>
        <p:txBody>
          <a:bodyPr wrap="none">
            <a:spAutoFit/>
          </a:bodyPr>
          <a:lstStyle/>
          <a:p>
            <a:pPr>
              <a:defRPr sz="1200" b="1">
                <a:solidFill>
                  <a:srgbClr val="FBBF24"/>
                </a:solidFill>
              </a:defRPr>
            </a:pPr>
            <a:r>
              <a:t>CPU Intel Core i5 / i7  |  Độ phân giải: 640 × 640</a:t>
            </a:r>
          </a:p>
          <a:p>
            <a:pPr>
              <a:defRPr sz="1300" b="1">
                <a:solidFill>
                  <a:srgbClr val="F8FAFC"/>
                </a:solidFill>
              </a:defRPr>
            </a:pPr>
            <a:r>
              <a:t>Độ trễ suy luận: 48.0 ms  ➔  Tốc độ: 20.8 FPS  (Chấp nhận được cho giám sát)</a:t>
            </a:r>
          </a:p>
        </p:txBody>
      </p:sp>
      <p:sp>
        <p:nvSpPr>
          <p:cNvPr id="8" name="Rounded Rectangle 7"/>
          <p:cNvSpPr/>
          <p:nvPr/>
        </p:nvSpPr>
        <p:spPr>
          <a:xfrm>
            <a:off x="731520" y="3749039"/>
            <a:ext cx="10698480"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40479"/>
            <a:ext cx="10332720" cy="777240"/>
          </a:xfrm>
          <a:prstGeom prst="rect">
            <a:avLst/>
          </a:prstGeom>
          <a:noFill/>
        </p:spPr>
        <p:txBody>
          <a:bodyPr wrap="none">
            <a:spAutoFit/>
          </a:bodyPr>
          <a:lstStyle/>
          <a:p>
            <a:pPr>
              <a:defRPr sz="1200" b="1">
                <a:solidFill>
                  <a:srgbClr val="06B6D4"/>
                </a:solidFill>
              </a:defRPr>
            </a:pPr>
            <a:r>
              <a:t>GPU NVIDIA CUDA  |  Độ phân giải: 416 × 416</a:t>
            </a:r>
          </a:p>
          <a:p>
            <a:pPr>
              <a:defRPr sz="1300" b="1">
                <a:solidFill>
                  <a:srgbClr val="F8FAFC"/>
                </a:solidFill>
              </a:defRPr>
            </a:pPr>
            <a:r>
              <a:t>Độ trễ suy luận: 6.2 ms  ➔  Tốc độ: 161.2 FPS  (Siêu nhanh, xử lý đa luồng camera)</a:t>
            </a:r>
          </a:p>
        </p:txBody>
      </p:sp>
      <p:sp>
        <p:nvSpPr>
          <p:cNvPr id="10" name="Rounded Rectangle 9"/>
          <p:cNvSpPr/>
          <p:nvPr/>
        </p:nvSpPr>
        <p:spPr>
          <a:xfrm>
            <a:off x="731520" y="4892040"/>
            <a:ext cx="10698480"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83479"/>
            <a:ext cx="10332720" cy="777240"/>
          </a:xfrm>
          <a:prstGeom prst="rect">
            <a:avLst/>
          </a:prstGeom>
          <a:noFill/>
        </p:spPr>
        <p:txBody>
          <a:bodyPr wrap="none">
            <a:spAutoFit/>
          </a:bodyPr>
          <a:lstStyle/>
          <a:p>
            <a:pPr>
              <a:defRPr sz="1200" b="1">
                <a:solidFill>
                  <a:srgbClr val="F97316"/>
                </a:solidFill>
              </a:defRPr>
            </a:pPr>
            <a:r>
              <a:t>GPU NVIDIA CUDA  |  Độ phân giải: 640 × 640</a:t>
            </a:r>
          </a:p>
          <a:p>
            <a:pPr>
              <a:defRPr sz="1300" b="1">
                <a:solidFill>
                  <a:srgbClr val="F8FAFC"/>
                </a:solidFill>
              </a:defRPr>
            </a:pPr>
            <a:r>
              <a:t>Độ trễ suy luận: 9.4 ms  ➔  Tốc độ: 106.3 FPS  (Rất mượt mà, độ nét cao)</a:t>
            </a:r>
          </a:p>
        </p:txBody>
      </p:sp>
      <p:sp>
        <p:nvSpPr>
          <p:cNvPr id="12" name="TextBox 11"/>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14</a:t>
            </a:r>
          </a:p>
          <a:p>
            <a:pPr>
              <a:spcBef>
                <a:spcPts val="400"/>
              </a:spcBef>
              <a:defRPr sz="2100" b="1">
                <a:solidFill>
                  <a:srgbClr val="F8FAFC"/>
                </a:solidFill>
              </a:defRPr>
            </a:pPr>
            <a:r>
              <a:t>THỬ NGHIỆM ĐỘ BỀN VỮNG TRƯỚC NHIỄU &amp; MÔI TRƯỜNG</a:t>
            </a:r>
          </a:p>
        </p:txBody>
      </p:sp>
      <p:pic>
        <p:nvPicPr>
          <p:cNvPr id="4" name="Picture 3" descr="noise_comparison.png"/>
          <p:cNvPicPr>
            <a:picLocks noChangeAspect="1"/>
          </p:cNvPicPr>
          <p:nvPr/>
        </p:nvPicPr>
        <p:blipFill>
          <a:blip r:embed="rId2"/>
          <a:stretch>
            <a:fillRect/>
          </a:stretch>
        </p:blipFill>
        <p:spPr>
          <a:xfrm>
            <a:off x="731520" y="1371600"/>
            <a:ext cx="10698480" cy="2710966"/>
          </a:xfrm>
          <a:prstGeom prst="rect">
            <a:avLst/>
          </a:prstGeom>
        </p:spPr>
      </p:pic>
      <p:sp>
        <p:nvSpPr>
          <p:cNvPr id="5" name="TextBox 4"/>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15</a:t>
            </a:r>
          </a:p>
          <a:p>
            <a:pPr>
              <a:spcBef>
                <a:spcPts val="400"/>
              </a:spcBef>
              <a:defRPr sz="2100" b="1">
                <a:solidFill>
                  <a:srgbClr val="F8FAFC"/>
                </a:solidFill>
              </a:defRPr>
            </a:pPr>
            <a:r>
              <a:t>ỨNG DỤNG DEMO WEB STUDIO PHÁT HIỆN ẢNH NHIỆT</a:t>
            </a:r>
          </a:p>
        </p:txBody>
      </p:sp>
      <p:pic>
        <p:nvPicPr>
          <p:cNvPr id="4" name="Picture 3" descr="slide_detection_showcase.png"/>
          <p:cNvPicPr>
            <a:picLocks noChangeAspect="1"/>
          </p:cNvPicPr>
          <p:nvPr/>
        </p:nvPicPr>
        <p:blipFill>
          <a:blip r:embed="rId2"/>
          <a:stretch>
            <a:fillRect/>
          </a:stretch>
        </p:blipFill>
        <p:spPr>
          <a:xfrm>
            <a:off x="731520" y="1371600"/>
            <a:ext cx="6583680" cy="2714030"/>
          </a:xfrm>
          <a:prstGeom prst="rect">
            <a:avLst/>
          </a:prstGeom>
        </p:spPr>
      </p:pic>
      <p:sp>
        <p:nvSpPr>
          <p:cNvPr id="5" name="Rounded Rectangle 4"/>
          <p:cNvSpPr/>
          <p:nvPr/>
        </p:nvSpPr>
        <p:spPr>
          <a:xfrm>
            <a:off x="7498079" y="1371600"/>
            <a:ext cx="3931920" cy="4754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554480"/>
            <a:ext cx="3566160" cy="4389120"/>
          </a:xfrm>
          <a:prstGeom prst="rect">
            <a:avLst/>
          </a:prstGeom>
          <a:noFill/>
        </p:spPr>
        <p:txBody>
          <a:bodyPr wrap="square">
            <a:spAutoFit/>
          </a:bodyPr>
          <a:lstStyle/>
          <a:p>
            <a:pPr>
              <a:defRPr sz="1300" b="1">
                <a:solidFill>
                  <a:srgbClr val="F97316"/>
                </a:solidFill>
              </a:defRPr>
            </a:pPr>
            <a:r>
              <a:t>⚡ TÍNH NĂNG ĐỘT PHÁ CỦA WEB</a:t>
            </a:r>
          </a:p>
          <a:p>
            <a:pPr>
              <a:spcBef>
                <a:spcPts val="800"/>
              </a:spcBef>
              <a:defRPr sz="1100">
                <a:solidFill>
                  <a:srgbClr val="CBD5E1"/>
                </a:solidFill>
              </a:defRPr>
            </a:pPr>
            <a:r>
              <a:t>• Tự động nhận diện tức thì (Zero-Click): Tải ảnh lên là tự chạy ngay.</a:t>
            </a:r>
          </a:p>
          <a:p>
            <a:pPr>
              <a:spcBef>
                <a:spcPts val="800"/>
              </a:spcBef>
              <a:defRPr sz="1100">
                <a:solidFill>
                  <a:srgbClr val="CBD5E1"/>
                </a:solidFill>
              </a:defRPr>
            </a:pPr>
            <a:r>
              <a:t>• Tự phát hiện ảnh nhiệt màu ➔ Chuyển xám nạp YOLO ➔ Trả kết quả có màu rực rỡ.</a:t>
            </a:r>
          </a:p>
          <a:p>
            <a:pPr>
              <a:spcBef>
                <a:spcPts val="800"/>
              </a:spcBef>
              <a:defRPr sz="1100">
                <a:solidFill>
                  <a:srgbClr val="CBD5E1"/>
                </a:solidFill>
              </a:defRPr>
            </a:pPr>
            <a:r>
              <a:t>• Bộ chuyển đổi bảng màu giả lập thân nhiệt: Inferno, Ironbow, Jet, Bone.</a:t>
            </a:r>
          </a:p>
          <a:p>
            <a:pPr>
              <a:spcBef>
                <a:spcPts val="800"/>
              </a:spcBef>
              <a:defRPr sz="1100">
                <a:solidFill>
                  <a:srgbClr val="CBD5E1"/>
                </a:solidFill>
              </a:defRPr>
            </a:pPr>
            <a:r>
              <a:t>• Trích xuất cận cảnh thân nhiệt từng người (Person heat signature gallery).</a:t>
            </a:r>
          </a:p>
          <a:p>
            <a:pPr>
              <a:spcBef>
                <a:spcPts val="800"/>
              </a:spcBef>
              <a:defRPr sz="1100">
                <a:solidFill>
                  <a:srgbClr val="CBD5E1"/>
                </a:solidFill>
              </a:defRPr>
            </a:pPr>
            <a:r>
              <a:t>• Phòng thử nghiệm mức nhiệt và nhiễu (Noise Lab) trực quan ngay trên web.</a:t>
            </a:r>
          </a:p>
        </p:txBody>
      </p:sp>
      <p:sp>
        <p:nvSpPr>
          <p:cNvPr id="7" name="TextBox 6"/>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16</a:t>
            </a:r>
          </a:p>
          <a:p>
            <a:pPr>
              <a:spcBef>
                <a:spcPts val="400"/>
              </a:spcBef>
              <a:defRPr sz="2100" b="1">
                <a:solidFill>
                  <a:srgbClr val="F8FAFC"/>
                </a:solidFill>
              </a:defRPr>
            </a:pPr>
            <a:r>
              <a:t>PHÂN TÍCH ƯU ĐIỂM &amp; HẠN CHẾ CỦA HỆ THỐNG</a:t>
            </a:r>
          </a:p>
        </p:txBody>
      </p:sp>
      <p:sp>
        <p:nvSpPr>
          <p:cNvPr id="4" name="Rounded Rectangle 3"/>
          <p:cNvSpPr/>
          <p:nvPr/>
        </p:nvSpPr>
        <p:spPr>
          <a:xfrm>
            <a:off x="7315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480560"/>
          </a:xfrm>
          <a:prstGeom prst="rect">
            <a:avLst/>
          </a:prstGeom>
          <a:noFill/>
        </p:spPr>
        <p:txBody>
          <a:bodyPr wrap="square">
            <a:spAutoFit/>
          </a:bodyPr>
          <a:lstStyle/>
          <a:p>
            <a:pPr>
              <a:defRPr sz="1400" b="1">
                <a:solidFill>
                  <a:srgbClr val="4ADE80"/>
                </a:solidFill>
              </a:defRPr>
            </a:pPr>
            <a:r>
              <a:t>✅ ƯU ĐIỂM NỔI BẬT</a:t>
            </a:r>
          </a:p>
          <a:p>
            <a:pPr>
              <a:spcBef>
                <a:spcPts val="800"/>
              </a:spcBef>
              <a:defRPr sz="1150">
                <a:solidFill>
                  <a:srgbClr val="CBD5E1"/>
                </a:solidFill>
              </a:defRPr>
            </a:pPr>
            <a:r>
              <a:t>• Hoạt động bền bỉ, tin cậy trong bóng tối hoàn toàn (0 Lux) và sương mù khói bụi.</a:t>
            </a:r>
          </a:p>
          <a:p>
            <a:pPr>
              <a:spcBef>
                <a:spcPts val="800"/>
              </a:spcBef>
              <a:defRPr sz="1150">
                <a:solidFill>
                  <a:srgbClr val="CBD5E1"/>
                </a:solidFill>
              </a:defRPr>
            </a:pPr>
            <a:r>
              <a:t>• Tốc độ suy luận siêu nhanh (&gt; 35 FPS CPU, &gt; 160 FPS GPU), độ trễ cực thấp.</a:t>
            </a:r>
          </a:p>
          <a:p>
            <a:pPr>
              <a:spcBef>
                <a:spcPts val="800"/>
              </a:spcBef>
              <a:defRPr sz="1150">
                <a:solidFill>
                  <a:srgbClr val="CBD5E1"/>
                </a:solidFill>
              </a:defRPr>
            </a:pPr>
            <a:r>
              <a:t>• Độ chính xác cao (Precision 78.5% – 90.2%), hạn chế tối đa báo động giả.</a:t>
            </a:r>
          </a:p>
          <a:p>
            <a:pPr>
              <a:spcBef>
                <a:spcPts val="800"/>
              </a:spcBef>
              <a:defRPr sz="1150">
                <a:solidFill>
                  <a:srgbClr val="CBD5E1"/>
                </a:solidFill>
              </a:defRPr>
            </a:pPr>
            <a:r>
              <a:t>• Mô hình gọn nhẹ (~6.2 MB), dễ dàng tích hợp thiết bị nhúng biên Edge AI.</a:t>
            </a:r>
          </a:p>
          <a:p>
            <a:pPr>
              <a:spcBef>
                <a:spcPts val="800"/>
              </a:spcBef>
              <a:defRPr sz="1150">
                <a:solidFill>
                  <a:srgbClr val="CBD5E1"/>
                </a:solidFill>
              </a:defRPr>
            </a:pPr>
            <a:r>
              <a:t>• Giao diện web trực quan, tự động hóa cao và nhiều tính năng tương tác.</a:t>
            </a:r>
          </a:p>
        </p:txBody>
      </p:sp>
      <p:sp>
        <p:nvSpPr>
          <p:cNvPr id="6" name="Rounded Rectangle 5"/>
          <p:cNvSpPr/>
          <p:nvPr/>
        </p:nvSpPr>
        <p:spPr>
          <a:xfrm>
            <a:off x="6217920" y="1280160"/>
            <a:ext cx="5212080" cy="48463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480560"/>
          </a:xfrm>
          <a:prstGeom prst="rect">
            <a:avLst/>
          </a:prstGeom>
          <a:noFill/>
        </p:spPr>
        <p:txBody>
          <a:bodyPr wrap="square">
            <a:spAutoFit/>
          </a:bodyPr>
          <a:lstStyle/>
          <a:p>
            <a:pPr>
              <a:defRPr sz="1400" b="1">
                <a:solidFill>
                  <a:srgbClr val="FBBF24"/>
                </a:solidFill>
              </a:defRPr>
            </a:pPr>
            <a:r>
              <a:t>⚠️ HẠN CHẾ CẦN HOÀN THIỆN</a:t>
            </a:r>
          </a:p>
          <a:p>
            <a:pPr>
              <a:spcBef>
                <a:spcPts val="800"/>
              </a:spcBef>
              <a:defRPr sz="1150">
                <a:solidFill>
                  <a:srgbClr val="CBD5E1"/>
                </a:solidFill>
              </a:defRPr>
            </a:pPr>
            <a:r>
              <a:t>• Khoảng cách quá xa (&gt; 50m): Vùng nhiệt chỉ chiếm vài pixel mờ nhạt dễ bị bỏ sót.</a:t>
            </a:r>
          </a:p>
          <a:p>
            <a:pPr>
              <a:spcBef>
                <a:spcPts val="800"/>
              </a:spcBef>
              <a:defRPr sz="1150">
                <a:solidFill>
                  <a:srgbClr val="CBD5E1"/>
                </a:solidFill>
              </a:defRPr>
            </a:pPr>
            <a:r>
              <a:t>• Quần áo bảo hộ cách nhiệt dày: Làm giảm độ dốc nhiệt độ bề mặt so với môi trường.</a:t>
            </a:r>
          </a:p>
          <a:p>
            <a:pPr>
              <a:spcBef>
                <a:spcPts val="800"/>
              </a:spcBef>
              <a:defRPr sz="1150">
                <a:solidFill>
                  <a:srgbClr val="CBD5E1"/>
                </a:solidFill>
              </a:defRPr>
            </a:pPr>
            <a:r>
              <a:t>• Hiện tượng ngày nắng nóng: Bề mặt kim loại/mặt đường tích nhiệt tiệm cận 37°C làm giảm tương phản nhiệt.</a:t>
            </a:r>
          </a:p>
          <a:p>
            <a:pPr>
              <a:spcBef>
                <a:spcPts val="800"/>
              </a:spcBef>
              <a:defRPr sz="1150">
                <a:solidFill>
                  <a:srgbClr val="CBD5E1"/>
                </a:solidFill>
              </a:defRPr>
            </a:pPr>
            <a:r>
              <a:t>• Chưa kết hợp màu sắc nhận diện đặc điểm trang phục ban ngày.</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65760"/>
          </a:xfrm>
          <a:prstGeom prst="rect">
            <a:avLst/>
          </a:prstGeom>
          <a:noFill/>
        </p:spPr>
        <p:txBody>
          <a:bodyPr wrap="square">
            <a:spAutoFit/>
          </a:bodyPr>
          <a:lstStyle/>
          <a:p>
            <a:pPr>
              <a:defRPr sz="1050" b="1">
                <a:solidFill>
                  <a:srgbClr val="06B6D4"/>
                </a:solidFill>
              </a:defRPr>
            </a:pPr>
            <a:r>
              <a:t>ĐỒ ÁN MÔN HỌC TRÍ TUỆ NHÂN TẠO · HUTECH  |  SLIDE 17</a:t>
            </a:r>
          </a:p>
          <a:p>
            <a:pPr>
              <a:spcBef>
                <a:spcPts val="400"/>
              </a:spcBef>
              <a:defRPr sz="2100" b="1">
                <a:solidFill>
                  <a:srgbClr val="F8FAFC"/>
                </a:solidFill>
              </a:defRPr>
            </a:pPr>
            <a:r>
              <a:t>KẾT LUẬN &amp; HƯỚNG PHÁT TRIỂN TƯƠNG LAI</a:t>
            </a:r>
          </a:p>
        </p:txBody>
      </p:sp>
      <p:sp>
        <p:nvSpPr>
          <p:cNvPr id="4" name="Rounded Rectangle 3"/>
          <p:cNvSpPr/>
          <p:nvPr/>
        </p:nvSpPr>
        <p:spPr>
          <a:xfrm>
            <a:off x="731520" y="1280160"/>
            <a:ext cx="10698480" cy="22860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2103120"/>
          </a:xfrm>
          <a:prstGeom prst="rect">
            <a:avLst/>
          </a:prstGeom>
          <a:noFill/>
        </p:spPr>
        <p:txBody>
          <a:bodyPr wrap="square">
            <a:spAutoFit/>
          </a:bodyPr>
          <a:lstStyle/>
          <a:p>
            <a:pPr>
              <a:defRPr sz="1300" b="1">
                <a:solidFill>
                  <a:srgbClr val="06B6D4"/>
                </a:solidFill>
              </a:defRPr>
            </a:pPr>
            <a:r>
              <a:t>🎯 KẾT LUẬN ĐỒ ÁN</a:t>
            </a:r>
          </a:p>
          <a:p>
            <a:pPr>
              <a:spcBef>
                <a:spcPts val="400"/>
              </a:spcBef>
              <a:defRPr sz="1100">
                <a:solidFill>
                  <a:srgbClr val="CBD5E1"/>
                </a:solidFill>
              </a:defRPr>
            </a:pPr>
            <a:r>
              <a:t>• Hoàn thành 100% mục tiêu: Chuẩn hóa dữ liệu ảnh nhiệt lớn (FLIR &amp; LLVIP), huấn luyện thành công YOLOv8n.</a:t>
            </a:r>
          </a:p>
          <a:p>
            <a:pPr>
              <a:spcBef>
                <a:spcPts val="400"/>
              </a:spcBef>
              <a:defRPr sz="1100">
                <a:solidFill>
                  <a:srgbClr val="CBD5E1"/>
                </a:solidFill>
              </a:defRPr>
            </a:pPr>
            <a:r>
              <a:t>• Hiệu năng vượt trội: mAP@50 đạt 67.07% (FLIR) và 88.52% (LLVIP); Precision đạt 78.5% - 90.2%.</a:t>
            </a:r>
          </a:p>
          <a:p>
            <a:pPr>
              <a:spcBef>
                <a:spcPts val="400"/>
              </a:spcBef>
              <a:defRPr sz="1100">
                <a:solidFill>
                  <a:srgbClr val="CBD5E1"/>
                </a:solidFill>
              </a:defRPr>
            </a:pPr>
            <a:r>
              <a:t>• Tốc độ thời gian thực: &gt; 35 FPS trên CPU phổ thông, chứng minh tính khả thi ứng dụng thực tế.</a:t>
            </a:r>
          </a:p>
        </p:txBody>
      </p:sp>
      <p:sp>
        <p:nvSpPr>
          <p:cNvPr id="6" name="Rounded Rectangle 5"/>
          <p:cNvSpPr/>
          <p:nvPr/>
        </p:nvSpPr>
        <p:spPr>
          <a:xfrm>
            <a:off x="731520" y="3749039"/>
            <a:ext cx="10698480" cy="2377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40480"/>
            <a:ext cx="10332720" cy="2194560"/>
          </a:xfrm>
          <a:prstGeom prst="rect">
            <a:avLst/>
          </a:prstGeom>
          <a:noFill/>
        </p:spPr>
        <p:txBody>
          <a:bodyPr wrap="square">
            <a:spAutoFit/>
          </a:bodyPr>
          <a:lstStyle/>
          <a:p>
            <a:pPr>
              <a:defRPr sz="1300" b="1">
                <a:solidFill>
                  <a:srgbClr val="F97316"/>
                </a:solidFill>
              </a:defRPr>
            </a:pPr>
            <a:r>
              <a:t>🚀 HƯỚNG PHÁT TRIỂN TƯƠNG LAI</a:t>
            </a:r>
          </a:p>
          <a:p>
            <a:pPr>
              <a:spcBef>
                <a:spcPts val="400"/>
              </a:spcBef>
              <a:defRPr sz="1100">
                <a:solidFill>
                  <a:srgbClr val="CBD5E1"/>
                </a:solidFill>
              </a:defRPr>
            </a:pPr>
            <a:r>
              <a:t>• Multimodal Fusion: Hợp nhất camera kép RGB (ban ngày) và Thermal (ban đêm) qua mạng Attention.</a:t>
            </a:r>
          </a:p>
          <a:p>
            <a:pPr>
              <a:spcBef>
                <a:spcPts val="400"/>
              </a:spcBef>
              <a:defRPr sz="1100">
                <a:solidFill>
                  <a:srgbClr val="CBD5E1"/>
                </a:solidFill>
              </a:defRPr>
            </a:pPr>
            <a:r>
              <a:t>• Edge AI Optimization: Lượng tử hóa INT8 và chuyển đổi TensorRT để nhúng trực tiếp vào bo mạch NVIDIA Jetson.</a:t>
            </a:r>
          </a:p>
          <a:p>
            <a:pPr>
              <a:spcBef>
                <a:spcPts val="400"/>
              </a:spcBef>
              <a:defRPr sz="1100">
                <a:solidFill>
                  <a:srgbClr val="CBD5E1"/>
                </a:solidFill>
              </a:defRPr>
            </a:pPr>
            <a:r>
              <a:t>• Multi-Object Tracking (MOT): Tích hợp ByteTrack để theo dõi quỹ đạo người và cảnh báo xâm nhập hàng rào ảo.</a:t>
            </a:r>
          </a:p>
        </p:txBody>
      </p:sp>
      <p:sp>
        <p:nvSpPr>
          <p:cNvPr id="8" name="TextBox 7"/>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371600"/>
            <a:ext cx="8869680" cy="4389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828800"/>
            <a:ext cx="8503920" cy="3474720"/>
          </a:xfrm>
          <a:prstGeom prst="rect">
            <a:avLst/>
          </a:prstGeom>
          <a:noFill/>
        </p:spPr>
        <p:txBody>
          <a:bodyPr wrap="square">
            <a:spAutoFit/>
          </a:bodyPr>
          <a:lstStyle/>
          <a:p>
            <a:pPr algn="ctr">
              <a:defRPr sz="3200" b="1">
                <a:solidFill>
                  <a:srgbClr val="F97316"/>
                </a:solidFill>
              </a:defRPr>
            </a:pPr>
            <a:r>
              <a:t>XIN CHÂN THÀNH CẢM ƠN!</a:t>
            </a:r>
          </a:p>
          <a:p>
            <a:pPr algn="ctr">
              <a:spcBef>
                <a:spcPts val="1400"/>
              </a:spcBef>
              <a:defRPr sz="1600" b="1">
                <a:solidFill>
                  <a:srgbClr val="06B6D4"/>
                </a:solidFill>
              </a:defRPr>
            </a:pPr>
            <a:r>
              <a:t>PHIÊN HỎI ĐÁP &amp; ĐÓNG GÓP Ý KIẾN (Q &amp; A)</a:t>
            </a:r>
          </a:p>
          <a:p>
            <a:pPr algn="ctr">
              <a:spcBef>
                <a:spcPts val="1600"/>
              </a:spcBef>
              <a:defRPr sz="1300">
                <a:solidFill>
                  <a:srgbClr val="CBD5E1"/>
                </a:solidFill>
              </a:defRPr>
            </a:pPr>
            <a:r>
              <a:t>Kính chúc Thầy/Cô Vũ Thanh Hiền và Hội đồng dồi dào sức khỏe và công tác tốt!</a:t>
            </a:r>
            <a:br/>
            <a:r>
              <a:t>Sinh viên: Nguyễn Đức Hiếu  ·  MSSV: 24800600314</a:t>
            </a:r>
          </a:p>
        </p:txBody>
      </p:sp>
      <p:sp>
        <p:nvSpPr>
          <p:cNvPr id="5" name="TextBox 4"/>
          <p:cNvSpPr txBox="1"/>
          <p:nvPr/>
        </p:nvSpPr>
        <p:spPr>
          <a:xfrm>
            <a:off x="731520" y="6400800"/>
            <a:ext cx="10698480" cy="320040"/>
          </a:xfrm>
          <a:prstGeom prst="rect">
            <a:avLst/>
          </a:prstGeom>
          <a:noFill/>
        </p:spPr>
        <p:txBody>
          <a:bodyPr wrap="none">
            <a:spAutoFit/>
          </a:bodyPr>
          <a:lstStyle/>
          <a:p>
            <a:pPr>
              <a:defRPr sz="950">
                <a:solidFill>
                  <a:srgbClr val="64748B"/>
                </a:solidFill>
              </a:defRPr>
            </a:pPr>
            <a:r>
              <a:t>Sinh viên: Nguyễn Đức Hiếu (MSSV: 24800600314)  ·  GVHD: ThS./TS. Vũ Thanh Hiền  ·  HUTECH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